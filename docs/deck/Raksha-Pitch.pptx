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Latency (ms)</c:v>
                </c:pt>
              </c:strCache>
            </c:strRef>
          </c:tx>
          <c:spPr>
            <a:solidFill>
              <a:srgbClr val="34D399"/>
            </a:solidFill>
            <a:effectLst/>
          </c:spPr>
          <c:invertIfNegative val="0"/>
          <c:dLbls>
            <c:numFmt formatCode="#,##0 &quot;ms&quot;" sourceLinked="0"/>
            <c:txPr>
              <a:bodyPr/>
              <a:lstStyle/>
              <a:p>
                <a:pPr>
                  <a:defRPr b="0" i="0" strike="noStrike" sz="1200" u="none">
                    <a:solidFill>
                      <a:srgbClr val="E8EBF3"/>
                    </a:solidFill>
                    <a:latin typeface="Arial"/>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F5A524"/>
              </a:solidFill>
              <a:effectLst/>
            </c:spPr>
          </c:dPt>
          <c:dPt>
            <c:idx val="2"/>
            <c:invertIfNegative val="0"/>
            <c:bubble3D val="0"/>
            <c:spPr>
              <a:solidFill>
                <a:srgbClr val="EF4444"/>
              </a:solidFill>
              <a:effectLst/>
            </c:spPr>
          </c:dPt>
          <c:dPt>
            <c:idx val="3"/>
            <c:invertIfNegative val="0"/>
            <c:bubble3D val="0"/>
            <c:spPr>
              <a:solidFill>
                <a:srgbClr val="3A4460"/>
              </a:solidFill>
              <a:effectLst/>
            </c:spPr>
          </c:dPt>
          <c:cat>
            <c:multiLvlStrRef>
              <c:f>Sheet1!$A$2:$A$5</c:f>
              <c:multiLvlStrCache>
                <c:ptCount val="4"/>
                <c:lvl>
                  <c:pt idx="0">
                    <c:v>Moss, in-process (Raksha)</c:v>
                  </c:pt>
                  <c:pt idx="1">
                    <c:v>Cloud vector DB round-trip</c:v>
                  </c:pt>
                  <c:pt idx="2">
                    <c:v>LLM classifier per sentence</c:v>
                  </c:pt>
                  <c:pt idx="3">
                    <c:v>One spoken sentence</c:v>
                  </c:pt>
                </c:lvl>
              </c:multiLvlStrCache>
            </c:multiLvlStrRef>
          </c:cat>
          <c:val>
            <c:numRef>
              <c:f>Sheet1!$B$2:$B$5</c:f>
              <c:numCache>
                <c:formatCode>General</c:formatCode>
                <c:ptCount val="4"/>
                <c:pt idx="0">
                  <c:v>14</c:v>
                </c:pt>
                <c:pt idx="1">
                  <c:v>350</c:v>
                </c:pt>
                <c:pt idx="2">
                  <c:v>900</c:v>
                </c:pt>
                <c:pt idx="3">
                  <c:v>2500</c:v>
                </c:pt>
              </c:numCache>
            </c:numRef>
          </c:val>
        </c:ser>
        <c:dLbls>
          <c:numFmt formatCode="#,##0 &quot;ms&quot;" sourceLinked="0"/>
          <c:txPr>
            <a:bodyPr/>
            <a:lstStyle/>
            <a:p>
              <a:pPr>
                <a:defRPr b="0" i="0" strike="noStrike" sz="1200" u="none">
                  <a:solidFill>
                    <a:srgbClr val="E8EB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EBF3"/>
                </a:solidFill>
                <a:latin typeface="Arial"/>
              </a:defRPr>
            </a:pPr>
            <a:endParaRPr lang="en-US"/>
          </a:p>
        </c:txPr>
        <c:crossAx val="2094734552"/>
        <c:crosses val="autoZero"/>
        <c:auto val="1"/>
        <c:lblAlgn val="ctr"/>
        <c:noMultiLvlLbl val="1"/>
      </c:catAx>
      <c:valAx>
        <c:axId val="2094734552"/>
        <c:scaling>
          <c:orientation val="minMax"/>
          <c:max val="3000"/>
        </c:scaling>
        <c:delete val="0"/>
        <c:axPos val="b"/>
        <c:majorGridlines>
          <c:spPr>
            <a:ln w="6350" cap="flat">
              <a:solidFill>
                <a:srgbClr val="1F274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37A"/>
                </a:solidFill>
                <a:latin typeface="Arial"/>
              </a:defRPr>
            </a:pPr>
            <a:endParaRPr lang="en-US"/>
          </a:p>
        </c:txPr>
        <c:crossAx val="2094734554"/>
        <c:crosses val="autoZero"/>
        <c:crossBetween val="between"/>
      </c:valAx>
      <c:spPr>
        <a:solidFill>
          <a:srgbClr val="06080F"/>
        </a:solidFill>
        <a:ln>
          <a:noFill/>
        </a:ln>
        <a:effectLst/>
      </c:spPr>
    </c:plotArea>
    <c:plotVisOnly val="1"/>
    <c:dispBlanksAs val="span"/>
  </c:chart>
  <c:spPr>
    <a:solidFill>
      <a:srgbClr val="06080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phone ringing. Raksha means 'protection' — the thread on Raksha Bandhan. The product is that thread for a parent's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sourced in docs/research/market-facts.md. The point: the losses are enormous, growing, and concentrated on the elderly and on phone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whitespace: multi-OEM, script-level detection with an intervention step. Only two products analyse content; neither reaches the Indian mass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cue: /shield?scenario=digital-arrest, voices on. The overlay is the emotional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changes what you can build: when retrieval is free and instant you check every fragment instead of choosing which sentences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in the repo at docs/diagrams/architecture.png with a full write-up in 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used: pushIndex (privacy) and the browser SDK on the hot path (it cannot yet use a delegated authenticator; the retriever interface is ready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numbers: Moss published benchmark (100k docs, p95 4.3 ms) and typical hosted vector DB p50 of 350–600 ms. Our own numbers are measured live on the Latency lab page and recorded in docs/eval/REPORT.md.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second window on /guardian?code=…; send 'Mummy, hang up' — it is spoken on the 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tiles are generated from docs/eval/results.json at deck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liability shift is the wedge: banks now have a P&amp;L reason to buy prevention that fires before the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Thank Moss and the organisers.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80F"/>
        </a:solidFill>
      </p:bgPr>
    </p:bg>
    <p:spTree>
      <p:nvGrpSpPr>
        <p:cNvPr id="1" name=""/>
        <p:cNvGrpSpPr/>
        <p:nvPr/>
      </p:nvGrpSpPr>
      <p:grpSpPr>
        <a:xfrm>
          <a:off x="0" y="0"/>
          <a:ext cx="0" cy="0"/>
          <a:chOff x="0" y="0"/>
          <a:chExt cx="0" cy="0"/>
        </a:xfrm>
      </p:grpSpPr>
      <p:sp>
        <p:nvSpPr>
          <p:cNvPr id="2" name="Shape 0"/>
          <p:cNvSpPr/>
          <p:nvPr/>
        </p:nvSpPr>
        <p:spPr>
          <a:xfrm>
            <a:off x="7498080" y="-2011680"/>
            <a:ext cx="7315200" cy="7315200"/>
          </a:xfrm>
          <a:prstGeom prst="ellipse">
            <a:avLst/>
          </a:prstGeom>
          <a:solidFill>
            <a:srgbClr val="1A1608">
              <a:alpha val="80000"/>
            </a:srgbClr>
          </a:solidFill>
          <a:ln w="12700">
            <a:solidFill>
              <a:srgbClr val="06080F"/>
            </a:solidFill>
            <a:prstDash val="solid"/>
          </a:ln>
        </p:spPr>
      </p:sp>
      <p:pic>
        <p:nvPicPr>
          <p:cNvPr id="3" name="Image 0" descr="/home/user/YC-Fall-2026-x-Moss/docs/deck/assets/logo.png">    </p:cNvPr>
          <p:cNvPicPr>
            <a:picLocks noChangeAspect="1"/>
          </p:cNvPicPr>
          <p:nvPr/>
        </p:nvPicPr>
        <p:blipFill>
          <a:blip r:embed="rId1"/>
          <a:stretch>
            <a:fillRect/>
          </a:stretch>
        </p:blipFill>
        <p:spPr>
          <a:xfrm>
            <a:off x="640080" y="685800"/>
            <a:ext cx="822960" cy="822960"/>
          </a:xfrm>
          <a:prstGeom prst="rect">
            <a:avLst/>
          </a:prstGeom>
        </p:spPr>
      </p:pic>
      <p:sp>
        <p:nvSpPr>
          <p:cNvPr id="4" name="Text 1"/>
          <p:cNvSpPr txBox="1"/>
          <p:nvPr/>
        </p:nvSpPr>
        <p:spPr>
          <a:xfrm>
            <a:off x="1600200" y="731520"/>
            <a:ext cx="4572000" cy="731520"/>
          </a:xfrm>
          <a:prstGeom prst="rect">
            <a:avLst/>
          </a:prstGeom>
          <a:noFill/>
          <a:ln/>
        </p:spPr>
        <p:txBody>
          <a:bodyPr wrap="square" lIns="0" tIns="0" rIns="0" bIns="0" rtlCol="0" anchor="ctr"/>
          <a:lstStyle/>
          <a:p>
            <a:pPr indent="0" marL="0">
              <a:buNone/>
            </a:pPr>
            <a:r>
              <a:rPr lang="en-US" sz="3400" dirty="0">
                <a:solidFill>
                  <a:srgbClr val="E8EBF3"/>
                </a:solidFill>
                <a:latin typeface="Cambria" pitchFamily="34" charset="0"/>
                <a:ea typeface="Cambria" pitchFamily="34" charset="-122"/>
                <a:cs typeface="Cambria" pitchFamily="34" charset="-120"/>
              </a:rPr>
              <a:t>Raksha</a:t>
            </a:r>
            <a:endParaRPr lang="en-US" sz="3400" dirty="0"/>
          </a:p>
        </p:txBody>
      </p:sp>
      <p:sp>
        <p:nvSpPr>
          <p:cNvPr id="5" name="Text 2"/>
          <p:cNvSpPr txBox="1"/>
          <p:nvPr/>
        </p:nvSpPr>
        <p:spPr>
          <a:xfrm>
            <a:off x="640080" y="1920240"/>
            <a:ext cx="10972800" cy="2194560"/>
          </a:xfrm>
          <a:prstGeom prst="rect">
            <a:avLst/>
          </a:prstGeom>
          <a:noFill/>
          <a:ln/>
        </p:spPr>
        <p:txBody>
          <a:bodyPr wrap="square" lIns="0" tIns="0" rIns="0" bIns="0" rtlCol="0" anchor="t"/>
          <a:lstStyle/>
          <a:p>
            <a:pPr indent="0" marL="0">
              <a:lnSpc>
                <a:spcPct val="105000"/>
              </a:lnSpc>
              <a:buNone/>
            </a:pPr>
            <a:r>
              <a:rPr lang="en-US" sz="4400" dirty="0">
                <a:solidFill>
                  <a:srgbClr val="E8EBF3"/>
                </a:solidFill>
                <a:latin typeface="Cambria" pitchFamily="34" charset="0"/>
                <a:ea typeface="Cambria" pitchFamily="34" charset="-122"/>
                <a:cs typeface="Cambria" pitchFamily="34" charset="-120"/>
              </a:rPr>
              <a:t>Every scam follows a script.</a:t>
            </a:r>
            <a:endParaRPr lang="en-US" sz="4400" dirty="0"/>
          </a:p>
          <a:p>
            <a:pPr indent="0" marL="0">
              <a:lnSpc>
                <a:spcPct val="105000"/>
              </a:lnSpc>
              <a:buNone/>
            </a:pPr>
            <a:r>
              <a:rPr lang="en-US" sz="4400" dirty="0">
                <a:solidFill>
                  <a:srgbClr val="FFC75F"/>
                </a:solidFill>
                <a:latin typeface="Cambria" pitchFamily="34" charset="0"/>
                <a:ea typeface="Cambria" pitchFamily="34" charset="-122"/>
                <a:cs typeface="Cambria" pitchFamily="34" charset="-120"/>
              </a:rPr>
              <a:t>Now your phone knows the script.</a:t>
            </a:r>
            <a:endParaRPr lang="en-US" sz="4400" dirty="0"/>
          </a:p>
        </p:txBody>
      </p:sp>
      <p:sp>
        <p:nvSpPr>
          <p:cNvPr id="6" name="Text 3"/>
          <p:cNvSpPr txBox="1"/>
          <p:nvPr/>
        </p:nvSpPr>
        <p:spPr>
          <a:xfrm>
            <a:off x="640080" y="4343400"/>
            <a:ext cx="8412480" cy="1005840"/>
          </a:xfrm>
          <a:prstGeom prst="rect">
            <a:avLst/>
          </a:prstGeom>
          <a:noFill/>
          <a:ln/>
        </p:spPr>
        <p:txBody>
          <a:bodyPr wrap="square" lIns="0" tIns="0" rIns="0" bIns="0" rtlCol="0" anchor="ctr"/>
          <a:lstStyle/>
          <a:p>
            <a:pPr indent="0" marL="0">
              <a:buNone/>
            </a:pPr>
            <a:r>
              <a:rPr lang="en-US" sz="1700" dirty="0">
                <a:solidFill>
                  <a:srgbClr val="8F97AD"/>
                </a:solidFill>
                <a:latin typeface="Calibri" pitchFamily="34" charset="0"/>
                <a:ea typeface="Calibri" pitchFamily="34" charset="-122"/>
                <a:cs typeface="Calibri" pitchFamily="34" charset="-120"/>
              </a:rPr>
              <a:t>The real-time scam-call shield. Script recognition in about 10 ms during a live call, powered by Moss. It interrupts before the OTP leaves your mouth, tells you what to say, and alerts someone you trust.</a:t>
            </a:r>
            <a:endParaRPr lang="en-US" sz="1700" dirty="0"/>
          </a:p>
        </p:txBody>
      </p:sp>
      <p:sp>
        <p:nvSpPr>
          <p:cNvPr id="7" name="Text 4"/>
          <p:cNvSpPr txBox="1"/>
          <p:nvPr/>
        </p:nvSpPr>
        <p:spPr>
          <a:xfrm>
            <a:off x="640080" y="5760720"/>
            <a:ext cx="10058400" cy="365760"/>
          </a:xfrm>
          <a:prstGeom prst="rect">
            <a:avLst/>
          </a:prstGeom>
          <a:noFill/>
          <a:ln/>
        </p:spPr>
        <p:txBody>
          <a:bodyPr wrap="square" lIns="0" tIns="0" rIns="0" bIns="0" rtlCol="0" anchor="ctr"/>
          <a:lstStyle/>
          <a:p>
            <a:pPr indent="0" marL="0">
              <a:buNone/>
            </a:pPr>
            <a:r>
              <a:rPr lang="en-US" sz="1300" dirty="0">
                <a:solidFill>
                  <a:srgbClr val="5B637A"/>
                </a:solidFill>
                <a:latin typeface="Calibri" pitchFamily="34" charset="0"/>
                <a:ea typeface="Calibri" pitchFamily="34" charset="-122"/>
                <a:cs typeface="Calibri" pitchFamily="34" charset="-120"/>
              </a:rPr>
              <a:t>Shivam Gupta · with Claude  ·  github.com/shi1720/YC-Fall-2026-x-Moss</a:t>
            </a:r>
            <a:endParaRPr lang="en-US" sz="1300" dirty="0"/>
          </a:p>
        </p:txBody>
      </p:sp>
      <p:sp>
        <p:nvSpPr>
          <p:cNvPr id="8" name="Text 5"/>
          <p:cNvSpPr txBox="1"/>
          <p:nvPr/>
        </p:nvSpPr>
        <p:spPr>
          <a:xfrm>
            <a:off x="640080" y="6080760"/>
            <a:ext cx="10058400" cy="320040"/>
          </a:xfrm>
          <a:prstGeom prst="rect">
            <a:avLst/>
          </a:prstGeom>
          <a:noFill/>
          <a:ln/>
        </p:spPr>
        <p:txBody>
          <a:bodyPr wrap="square" lIns="0" tIns="0" rIns="0" bIns="0" rtlCol="0" anchor="ctr"/>
          <a:lstStyle/>
          <a:p>
            <a:pPr indent="0" marL="0">
              <a:buNone/>
            </a:pPr>
            <a:r>
              <a:rPr lang="en-US" sz="1100" dirty="0">
                <a:solidFill>
                  <a:srgbClr val="5B637A"/>
                </a:solidFill>
                <a:latin typeface="Calibri" pitchFamily="34" charset="0"/>
                <a:ea typeface="Calibri" pitchFamily="34" charset="-122"/>
                <a:cs typeface="Calibri" pitchFamily="34" charset="-120"/>
              </a:rPr>
              <a:t>YC Fall 2026 × Moss · Zero Latency Builder Sprint · Real-Time Voice &amp; Conversational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THE PROBLEM</a:t>
            </a:r>
            <a:endParaRPr lang="en-US" sz="1000" dirty="0"/>
          </a:p>
        </p:txBody>
      </p:sp>
      <p:sp>
        <p:nvSpPr>
          <p:cNvPr id="5" name="Text 3"/>
          <p:cNvSpPr txBox="1"/>
          <p:nvPr/>
        </p:nvSpPr>
        <p:spPr>
          <a:xfrm>
            <a:off x="548640" y="411480"/>
            <a:ext cx="11064240" cy="1188720"/>
          </a:xfrm>
          <a:prstGeom prst="rect">
            <a:avLst/>
          </a:prstGeom>
          <a:noFill/>
          <a:ln/>
        </p:spPr>
        <p:txBody>
          <a:bodyPr wrap="square" lIns="0" tIns="0" rIns="0" bIns="0" rtlCol="0" anchor="t"/>
          <a:lstStyle/>
          <a:p>
            <a:pPr indent="0" marL="0">
              <a:buNone/>
            </a:pPr>
            <a:r>
              <a:rPr lang="en-US" sz="3000" dirty="0">
                <a:solidFill>
                  <a:srgbClr val="E8EBF3"/>
                </a:solidFill>
                <a:latin typeface="Cambria" pitchFamily="34" charset="0"/>
                <a:ea typeface="Cambria" pitchFamily="34" charset="-122"/>
                <a:cs typeface="Cambria" pitchFamily="34" charset="-120"/>
              </a:rPr>
              <a:t>Scams are conversations with a script. Nobody protects people during the conversation.</a:t>
            </a:r>
            <a:endParaRPr lang="en-US" sz="3000" dirty="0"/>
          </a:p>
        </p:txBody>
      </p:sp>
      <p:sp>
        <p:nvSpPr>
          <p:cNvPr id="6" name="Shape 4"/>
          <p:cNvSpPr/>
          <p:nvPr/>
        </p:nvSpPr>
        <p:spPr>
          <a:xfrm>
            <a:off x="548640" y="2011680"/>
            <a:ext cx="2651760" cy="3566160"/>
          </a:xfrm>
          <a:prstGeom prst="roundRect">
            <a:avLst>
              <a:gd name="adj" fmla="val 4828"/>
            </a:avLst>
          </a:prstGeom>
          <a:solidFill>
            <a:srgbClr val="0F1523"/>
          </a:solidFill>
          <a:ln w="9525">
            <a:solidFill>
              <a:srgbClr val="26304A"/>
            </a:solidFill>
            <a:prstDash val="solid"/>
          </a:ln>
        </p:spPr>
      </p:sp>
      <p:sp>
        <p:nvSpPr>
          <p:cNvPr id="7" name="Text 5"/>
          <p:cNvSpPr txBox="1"/>
          <p:nvPr/>
        </p:nvSpPr>
        <p:spPr>
          <a:xfrm>
            <a:off x="777240" y="2286000"/>
            <a:ext cx="2286000" cy="914400"/>
          </a:xfrm>
          <a:prstGeom prst="rect">
            <a:avLst/>
          </a:prstGeom>
          <a:noFill/>
          <a:ln/>
        </p:spPr>
        <p:txBody>
          <a:bodyPr wrap="square" lIns="0" tIns="0" rIns="0" bIns="0" rtlCol="0" anchor="ctr"/>
          <a:lstStyle/>
          <a:p>
            <a:pPr indent="0" marL="0">
              <a:buNone/>
            </a:pPr>
            <a:r>
              <a:rPr lang="en-US" sz="3000" dirty="0">
                <a:solidFill>
                  <a:srgbClr val="FFC75F"/>
                </a:solidFill>
                <a:latin typeface="Cambria" pitchFamily="34" charset="0"/>
                <a:ea typeface="Cambria" pitchFamily="34" charset="-122"/>
                <a:cs typeface="Cambria" pitchFamily="34" charset="-120"/>
              </a:rPr>
              <a:t>₹22,845 cr</a:t>
            </a:r>
            <a:endParaRPr lang="en-US" sz="3000" dirty="0"/>
          </a:p>
        </p:txBody>
      </p:sp>
      <p:sp>
        <p:nvSpPr>
          <p:cNvPr id="8" name="Text 6"/>
          <p:cNvSpPr txBox="1"/>
          <p:nvPr/>
        </p:nvSpPr>
        <p:spPr>
          <a:xfrm>
            <a:off x="777240" y="3337560"/>
            <a:ext cx="2240280" cy="1463040"/>
          </a:xfrm>
          <a:prstGeom prst="rect">
            <a:avLst/>
          </a:prstGeom>
          <a:noFill/>
          <a:ln/>
        </p:spPr>
        <p:txBody>
          <a:bodyPr wrap="square" lIns="0" tIns="0" rIns="0" bIns="0" rtlCol="0" anchor="ctr"/>
          <a:lstStyle/>
          <a:p>
            <a:pPr indent="0" marL="0">
              <a:buNone/>
            </a:pPr>
            <a:r>
              <a:rPr lang="en-US" sz="1400" dirty="0">
                <a:solidFill>
                  <a:srgbClr val="E8EBF3"/>
                </a:solidFill>
                <a:latin typeface="Calibri" pitchFamily="34" charset="0"/>
                <a:ea typeface="Calibri" pitchFamily="34" charset="-122"/>
                <a:cs typeface="Calibri" pitchFamily="34" charset="-120"/>
              </a:rPr>
              <a:t>reported cyber-fraud losses in India, 2024 — 10× the 2022 figure</a:t>
            </a:r>
            <a:endParaRPr lang="en-US" sz="1400" dirty="0"/>
          </a:p>
        </p:txBody>
      </p:sp>
      <p:sp>
        <p:nvSpPr>
          <p:cNvPr id="9" name="Text 7"/>
          <p:cNvSpPr txBox="1"/>
          <p:nvPr/>
        </p:nvSpPr>
        <p:spPr>
          <a:xfrm>
            <a:off x="777240" y="4983480"/>
            <a:ext cx="2240280" cy="45720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MHA, Lok Sabha Q.432</a:t>
            </a:r>
            <a:endParaRPr lang="en-US" sz="1000" dirty="0"/>
          </a:p>
        </p:txBody>
      </p:sp>
      <p:sp>
        <p:nvSpPr>
          <p:cNvPr id="10" name="Shape 8"/>
          <p:cNvSpPr/>
          <p:nvPr/>
        </p:nvSpPr>
        <p:spPr>
          <a:xfrm>
            <a:off x="3364992" y="2011680"/>
            <a:ext cx="2651760" cy="3566160"/>
          </a:xfrm>
          <a:prstGeom prst="roundRect">
            <a:avLst>
              <a:gd name="adj" fmla="val 4828"/>
            </a:avLst>
          </a:prstGeom>
          <a:solidFill>
            <a:srgbClr val="0F1523"/>
          </a:solidFill>
          <a:ln w="9525">
            <a:solidFill>
              <a:srgbClr val="26304A"/>
            </a:solidFill>
            <a:prstDash val="solid"/>
          </a:ln>
        </p:spPr>
      </p:sp>
      <p:sp>
        <p:nvSpPr>
          <p:cNvPr id="11" name="Text 9"/>
          <p:cNvSpPr txBox="1"/>
          <p:nvPr/>
        </p:nvSpPr>
        <p:spPr>
          <a:xfrm>
            <a:off x="3593592" y="2286000"/>
            <a:ext cx="2286000" cy="914400"/>
          </a:xfrm>
          <a:prstGeom prst="rect">
            <a:avLst/>
          </a:prstGeom>
          <a:noFill/>
          <a:ln/>
        </p:spPr>
        <p:txBody>
          <a:bodyPr wrap="square" lIns="0" tIns="0" rIns="0" bIns="0" rtlCol="0" anchor="ctr"/>
          <a:lstStyle/>
          <a:p>
            <a:pPr indent="0" marL="0">
              <a:buNone/>
            </a:pPr>
            <a:r>
              <a:rPr lang="en-US" sz="3000" dirty="0">
                <a:solidFill>
                  <a:srgbClr val="FFC75F"/>
                </a:solidFill>
                <a:latin typeface="Cambria" pitchFamily="34" charset="0"/>
                <a:ea typeface="Cambria" pitchFamily="34" charset="-122"/>
                <a:cs typeface="Cambria" pitchFamily="34" charset="-120"/>
              </a:rPr>
              <a:t>₹1,900 cr</a:t>
            </a:r>
            <a:endParaRPr lang="en-US" sz="3000" dirty="0"/>
          </a:p>
        </p:txBody>
      </p:sp>
      <p:sp>
        <p:nvSpPr>
          <p:cNvPr id="12" name="Text 10"/>
          <p:cNvSpPr txBox="1"/>
          <p:nvPr/>
        </p:nvSpPr>
        <p:spPr>
          <a:xfrm>
            <a:off x="3593592" y="3337560"/>
            <a:ext cx="2240280" cy="1463040"/>
          </a:xfrm>
          <a:prstGeom prst="rect">
            <a:avLst/>
          </a:prstGeom>
          <a:noFill/>
          <a:ln/>
        </p:spPr>
        <p:txBody>
          <a:bodyPr wrap="square" lIns="0" tIns="0" rIns="0" bIns="0" rtlCol="0" anchor="ctr"/>
          <a:lstStyle/>
          <a:p>
            <a:pPr indent="0" marL="0">
              <a:buNone/>
            </a:pPr>
            <a:r>
              <a:rPr lang="en-US" sz="1400" dirty="0">
                <a:solidFill>
                  <a:srgbClr val="E8EBF3"/>
                </a:solidFill>
                <a:latin typeface="Calibri" pitchFamily="34" charset="0"/>
                <a:ea typeface="Calibri" pitchFamily="34" charset="-122"/>
                <a:cs typeface="Calibri" pitchFamily="34" charset="-120"/>
              </a:rPr>
              <a:t>taken by 'digital arrest' scams from 1.23 lakh people in 2024 (+465%)</a:t>
            </a:r>
            <a:endParaRPr lang="en-US" sz="1400" dirty="0"/>
          </a:p>
        </p:txBody>
      </p:sp>
      <p:sp>
        <p:nvSpPr>
          <p:cNvPr id="13" name="Text 11"/>
          <p:cNvSpPr txBox="1"/>
          <p:nvPr/>
        </p:nvSpPr>
        <p:spPr>
          <a:xfrm>
            <a:off x="3593592" y="4983480"/>
            <a:ext cx="2240280" cy="45720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MHA · Supreme Court suo motu, 2025</a:t>
            </a:r>
            <a:endParaRPr lang="en-US" sz="1000" dirty="0"/>
          </a:p>
        </p:txBody>
      </p:sp>
      <p:sp>
        <p:nvSpPr>
          <p:cNvPr id="14" name="Shape 12"/>
          <p:cNvSpPr/>
          <p:nvPr/>
        </p:nvSpPr>
        <p:spPr>
          <a:xfrm>
            <a:off x="6181344" y="2011680"/>
            <a:ext cx="2651760" cy="3566160"/>
          </a:xfrm>
          <a:prstGeom prst="roundRect">
            <a:avLst>
              <a:gd name="adj" fmla="val 4828"/>
            </a:avLst>
          </a:prstGeom>
          <a:solidFill>
            <a:srgbClr val="0F1523"/>
          </a:solidFill>
          <a:ln w="9525">
            <a:solidFill>
              <a:srgbClr val="26304A"/>
            </a:solidFill>
            <a:prstDash val="solid"/>
          </a:ln>
        </p:spPr>
      </p:sp>
      <p:sp>
        <p:nvSpPr>
          <p:cNvPr id="15" name="Text 13"/>
          <p:cNvSpPr txBox="1"/>
          <p:nvPr/>
        </p:nvSpPr>
        <p:spPr>
          <a:xfrm>
            <a:off x="6409944" y="2286000"/>
            <a:ext cx="2286000" cy="914400"/>
          </a:xfrm>
          <a:prstGeom prst="rect">
            <a:avLst/>
          </a:prstGeom>
          <a:noFill/>
          <a:ln/>
        </p:spPr>
        <p:txBody>
          <a:bodyPr wrap="square" lIns="0" tIns="0" rIns="0" bIns="0" rtlCol="0" anchor="ctr"/>
          <a:lstStyle/>
          <a:p>
            <a:pPr indent="0" marL="0">
              <a:buNone/>
            </a:pPr>
            <a:r>
              <a:rPr lang="en-US" sz="3800" dirty="0">
                <a:solidFill>
                  <a:srgbClr val="FFC75F"/>
                </a:solidFill>
                <a:latin typeface="Cambria" pitchFamily="34" charset="0"/>
                <a:ea typeface="Cambria" pitchFamily="34" charset="-122"/>
                <a:cs typeface="Cambria" pitchFamily="34" charset="-120"/>
              </a:rPr>
              <a:t>41%</a:t>
            </a:r>
            <a:endParaRPr lang="en-US" sz="3800" dirty="0"/>
          </a:p>
        </p:txBody>
      </p:sp>
      <p:sp>
        <p:nvSpPr>
          <p:cNvPr id="16" name="Text 14"/>
          <p:cNvSpPr txBox="1"/>
          <p:nvPr/>
        </p:nvSpPr>
        <p:spPr>
          <a:xfrm>
            <a:off x="6409944" y="3337560"/>
            <a:ext cx="2240280" cy="1463040"/>
          </a:xfrm>
          <a:prstGeom prst="rect">
            <a:avLst/>
          </a:prstGeom>
          <a:noFill/>
          <a:ln/>
        </p:spPr>
        <p:txBody>
          <a:bodyPr wrap="square" lIns="0" tIns="0" rIns="0" bIns="0" rtlCol="0" anchor="ctr"/>
          <a:lstStyle/>
          <a:p>
            <a:pPr indent="0" marL="0">
              <a:buNone/>
            </a:pPr>
            <a:r>
              <a:rPr lang="en-US" sz="1400" dirty="0">
                <a:solidFill>
                  <a:srgbClr val="E8EBF3"/>
                </a:solidFill>
                <a:latin typeface="Calibri" pitchFamily="34" charset="0"/>
                <a:ea typeface="Calibri" pitchFamily="34" charset="-122"/>
                <a:cs typeface="Calibri" pitchFamily="34" charset="-120"/>
              </a:rPr>
              <a:t>of $10k+ losses by older adults in the US began with a phone call</a:t>
            </a:r>
            <a:endParaRPr lang="en-US" sz="1400" dirty="0"/>
          </a:p>
        </p:txBody>
      </p:sp>
      <p:sp>
        <p:nvSpPr>
          <p:cNvPr id="17" name="Text 15"/>
          <p:cNvSpPr txBox="1"/>
          <p:nvPr/>
        </p:nvSpPr>
        <p:spPr>
          <a:xfrm>
            <a:off x="6409944" y="4983480"/>
            <a:ext cx="2240280" cy="45720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FTC Data Spotlight, 2025</a:t>
            </a:r>
            <a:endParaRPr lang="en-US" sz="1000" dirty="0"/>
          </a:p>
        </p:txBody>
      </p:sp>
      <p:sp>
        <p:nvSpPr>
          <p:cNvPr id="18" name="Shape 16"/>
          <p:cNvSpPr/>
          <p:nvPr/>
        </p:nvSpPr>
        <p:spPr>
          <a:xfrm>
            <a:off x="8997696" y="2011680"/>
            <a:ext cx="2651760" cy="3566160"/>
          </a:xfrm>
          <a:prstGeom prst="roundRect">
            <a:avLst>
              <a:gd name="adj" fmla="val 4828"/>
            </a:avLst>
          </a:prstGeom>
          <a:solidFill>
            <a:srgbClr val="0F1523"/>
          </a:solidFill>
          <a:ln w="9525">
            <a:solidFill>
              <a:srgbClr val="26304A"/>
            </a:solidFill>
            <a:prstDash val="solid"/>
          </a:ln>
        </p:spPr>
      </p:sp>
      <p:sp>
        <p:nvSpPr>
          <p:cNvPr id="19" name="Text 17"/>
          <p:cNvSpPr txBox="1"/>
          <p:nvPr/>
        </p:nvSpPr>
        <p:spPr>
          <a:xfrm>
            <a:off x="9226296" y="2286000"/>
            <a:ext cx="2286000" cy="914400"/>
          </a:xfrm>
          <a:prstGeom prst="rect">
            <a:avLst/>
          </a:prstGeom>
          <a:noFill/>
          <a:ln/>
        </p:spPr>
        <p:txBody>
          <a:bodyPr wrap="square" lIns="0" tIns="0" rIns="0" bIns="0" rtlCol="0" anchor="ctr"/>
          <a:lstStyle/>
          <a:p>
            <a:pPr indent="0" marL="0">
              <a:buNone/>
            </a:pPr>
            <a:r>
              <a:rPr lang="en-US" sz="3800" dirty="0">
                <a:solidFill>
                  <a:srgbClr val="FFC75F"/>
                </a:solidFill>
                <a:latin typeface="Cambria" pitchFamily="34" charset="0"/>
                <a:ea typeface="Cambria" pitchFamily="34" charset="-122"/>
                <a:cs typeface="Cambria" pitchFamily="34" charset="-120"/>
              </a:rPr>
              <a:t>$25.6M</a:t>
            </a:r>
            <a:endParaRPr lang="en-US" sz="3800" dirty="0"/>
          </a:p>
        </p:txBody>
      </p:sp>
      <p:sp>
        <p:nvSpPr>
          <p:cNvPr id="20" name="Text 18"/>
          <p:cNvSpPr txBox="1"/>
          <p:nvPr/>
        </p:nvSpPr>
        <p:spPr>
          <a:xfrm>
            <a:off x="9226296" y="3337560"/>
            <a:ext cx="2240280" cy="1463040"/>
          </a:xfrm>
          <a:prstGeom prst="rect">
            <a:avLst/>
          </a:prstGeom>
          <a:noFill/>
          <a:ln/>
        </p:spPr>
        <p:txBody>
          <a:bodyPr wrap="square" lIns="0" tIns="0" rIns="0" bIns="0" rtlCol="0" anchor="ctr"/>
          <a:lstStyle/>
          <a:p>
            <a:pPr indent="0" marL="0">
              <a:buNone/>
            </a:pPr>
            <a:r>
              <a:rPr lang="en-US" sz="1400" dirty="0">
                <a:solidFill>
                  <a:srgbClr val="E8EBF3"/>
                </a:solidFill>
                <a:latin typeface="Calibri" pitchFamily="34" charset="0"/>
                <a:ea typeface="Calibri" pitchFamily="34" charset="-122"/>
                <a:cs typeface="Calibri" pitchFamily="34" charset="-120"/>
              </a:rPr>
              <a:t>wired by one employee to a deepfaked CFO on a video call</a:t>
            </a:r>
            <a:endParaRPr lang="en-US" sz="1400" dirty="0"/>
          </a:p>
        </p:txBody>
      </p:sp>
      <p:sp>
        <p:nvSpPr>
          <p:cNvPr id="21" name="Text 19"/>
          <p:cNvSpPr txBox="1"/>
          <p:nvPr/>
        </p:nvSpPr>
        <p:spPr>
          <a:xfrm>
            <a:off x="9226296" y="4983480"/>
            <a:ext cx="2240280" cy="45720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Arup, Hong Kong, 2024</a:t>
            </a:r>
            <a:endParaRPr lang="en-US" sz="1000" dirty="0"/>
          </a:p>
        </p:txBody>
      </p:sp>
      <p:sp>
        <p:nvSpPr>
          <p:cNvPr id="22" name="Text 20"/>
          <p:cNvSpPr txBox="1"/>
          <p:nvPr/>
        </p:nvSpPr>
        <p:spPr>
          <a:xfrm>
            <a:off x="548640" y="5806440"/>
            <a:ext cx="10972800" cy="411480"/>
          </a:xfrm>
          <a:prstGeom prst="rect">
            <a:avLst/>
          </a:prstGeom>
          <a:noFill/>
          <a:ln/>
        </p:spPr>
        <p:txBody>
          <a:bodyPr wrap="square" lIns="0" tIns="0" rIns="0" bIns="0" rtlCol="0" anchor="ctr"/>
          <a:lstStyle/>
          <a:p>
            <a:pPr indent="0" marL="0">
              <a:buNone/>
            </a:pPr>
            <a:r>
              <a:rPr lang="en-US" sz="1500" i="1" dirty="0">
                <a:solidFill>
                  <a:srgbClr val="8F97AD"/>
                </a:solidFill>
                <a:latin typeface="Calibri" pitchFamily="34" charset="0"/>
                <a:ea typeface="Calibri" pitchFamily="34" charset="-122"/>
                <a:cs typeface="Calibri" pitchFamily="34" charset="-120"/>
              </a:rPr>
              <a:t>Every one of these calls followed the same arc:  authority → fear → secrecy → the ask.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THE GAP</a:t>
            </a:r>
            <a:endParaRPr lang="en-US" sz="1000" dirty="0"/>
          </a:p>
        </p:txBody>
      </p:sp>
      <p:sp>
        <p:nvSpPr>
          <p:cNvPr id="5" name="Text 3"/>
          <p:cNvSpPr txBox="1"/>
          <p:nvPr/>
        </p:nvSpPr>
        <p:spPr>
          <a:xfrm>
            <a:off x="548640" y="411480"/>
            <a:ext cx="11064240" cy="1188720"/>
          </a:xfrm>
          <a:prstGeom prst="rect">
            <a:avLst/>
          </a:prstGeom>
          <a:noFill/>
          <a:ln/>
        </p:spPr>
        <p:txBody>
          <a:bodyPr wrap="square" lIns="0" tIns="0" rIns="0" bIns="0" rtlCol="0" anchor="t"/>
          <a:lstStyle/>
          <a:p>
            <a:pPr indent="0" marL="0">
              <a:buNone/>
            </a:pPr>
            <a:r>
              <a:rPr lang="en-US" sz="3000" dirty="0">
                <a:solidFill>
                  <a:srgbClr val="E8EBF3"/>
                </a:solidFill>
                <a:latin typeface="Cambria" pitchFamily="34" charset="0"/>
                <a:ea typeface="Cambria" pitchFamily="34" charset="-122"/>
                <a:cs typeface="Cambria" pitchFamily="34" charset="-120"/>
              </a:rPr>
              <a:t>Caller-ID tells you who is calling. Nobody tells you what they are doing to you.</a:t>
            </a:r>
            <a:endParaRPr lang="en-US" sz="3000" dirty="0"/>
          </a:p>
        </p:txBody>
      </p:sp>
      <p:sp>
        <p:nvSpPr>
          <p:cNvPr id="6" name="Shape 4"/>
          <p:cNvSpPr/>
          <p:nvPr/>
        </p:nvSpPr>
        <p:spPr>
          <a:xfrm>
            <a:off x="548640" y="1965960"/>
            <a:ext cx="11064240" cy="676656"/>
          </a:xfrm>
          <a:prstGeom prst="roundRect">
            <a:avLst>
              <a:gd name="adj" fmla="val 18919"/>
            </a:avLst>
          </a:prstGeom>
          <a:solidFill>
            <a:srgbClr val="0F1523"/>
          </a:solidFill>
          <a:ln w="9525">
            <a:solidFill>
              <a:srgbClr val="26304A"/>
            </a:solidFill>
            <a:prstDash val="solid"/>
          </a:ln>
        </p:spPr>
      </p:sp>
      <p:pic>
        <p:nvPicPr>
          <p:cNvPr id="7" name="Image 0" descr="preencoded.png">    </p:cNvPr>
          <p:cNvPicPr>
            <a:picLocks noChangeAspect="1"/>
          </p:cNvPicPr>
          <p:nvPr/>
        </p:nvPicPr>
        <p:blipFill>
          <a:blip r:embed="rId1"/>
          <a:stretch>
            <a:fillRect/>
          </a:stretch>
        </p:blipFill>
        <p:spPr>
          <a:xfrm>
            <a:off x="731520" y="2148840"/>
            <a:ext cx="310896" cy="310896"/>
          </a:xfrm>
          <a:prstGeom prst="rect">
            <a:avLst/>
          </a:prstGeom>
        </p:spPr>
      </p:pic>
      <p:sp>
        <p:nvSpPr>
          <p:cNvPr id="8" name="Text 5"/>
          <p:cNvSpPr txBox="1"/>
          <p:nvPr/>
        </p:nvSpPr>
        <p:spPr>
          <a:xfrm>
            <a:off x="1188720" y="1965960"/>
            <a:ext cx="3108960" cy="676656"/>
          </a:xfrm>
          <a:prstGeom prst="rect">
            <a:avLst/>
          </a:prstGeom>
          <a:noFill/>
          <a:ln/>
        </p:spPr>
        <p:txBody>
          <a:bodyPr wrap="square" lIns="0" tIns="0" rIns="0" bIns="0" rtlCol="0" anchor="ctr"/>
          <a:lstStyle/>
          <a:p>
            <a:pPr indent="0" marL="0">
              <a:buNone/>
            </a:pPr>
            <a:r>
              <a:rPr lang="en-US" sz="1400" b="1" dirty="0">
                <a:solidFill>
                  <a:srgbClr val="E8EBF3"/>
                </a:solidFill>
                <a:latin typeface="Calibri" pitchFamily="34" charset="0"/>
                <a:ea typeface="Calibri" pitchFamily="34" charset="-122"/>
                <a:cs typeface="Calibri" pitchFamily="34" charset="-120"/>
              </a:rPr>
              <a:t>Truecaller · Airtel · Jio · iOS 26</a:t>
            </a:r>
            <a:endParaRPr lang="en-US" sz="1400" dirty="0"/>
          </a:p>
        </p:txBody>
      </p:sp>
      <p:sp>
        <p:nvSpPr>
          <p:cNvPr id="9" name="Text 6"/>
          <p:cNvSpPr txBox="1"/>
          <p:nvPr/>
        </p:nvSpPr>
        <p:spPr>
          <a:xfrm>
            <a:off x="4389120" y="1965960"/>
            <a:ext cx="283464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Number reputation</a:t>
            </a:r>
            <a:endParaRPr lang="en-US" sz="1300" dirty="0"/>
          </a:p>
        </p:txBody>
      </p:sp>
      <p:sp>
        <p:nvSpPr>
          <p:cNvPr id="10" name="Text 7"/>
          <p:cNvSpPr txBox="1"/>
          <p:nvPr/>
        </p:nvSpPr>
        <p:spPr>
          <a:xfrm>
            <a:off x="7315200" y="1965960"/>
            <a:ext cx="411480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Crews rotate numbers daily. The script never changes.</a:t>
            </a:r>
            <a:endParaRPr lang="en-US" sz="1300" dirty="0"/>
          </a:p>
        </p:txBody>
      </p:sp>
      <p:sp>
        <p:nvSpPr>
          <p:cNvPr id="11" name="Shape 8"/>
          <p:cNvSpPr/>
          <p:nvPr/>
        </p:nvSpPr>
        <p:spPr>
          <a:xfrm>
            <a:off x="548640" y="2752344"/>
            <a:ext cx="11064240" cy="676656"/>
          </a:xfrm>
          <a:prstGeom prst="roundRect">
            <a:avLst>
              <a:gd name="adj" fmla="val 18919"/>
            </a:avLst>
          </a:prstGeom>
          <a:solidFill>
            <a:srgbClr val="0F1523"/>
          </a:solidFill>
          <a:ln w="9525">
            <a:solidFill>
              <a:srgbClr val="26304A"/>
            </a:solidFill>
            <a:prstDash val="solid"/>
          </a:ln>
        </p:spPr>
      </p:sp>
      <p:pic>
        <p:nvPicPr>
          <p:cNvPr id="12" name="Image 1" descr="preencoded.png">    </p:cNvPr>
          <p:cNvPicPr>
            <a:picLocks noChangeAspect="1"/>
          </p:cNvPicPr>
          <p:nvPr/>
        </p:nvPicPr>
        <p:blipFill>
          <a:blip r:embed="rId2"/>
          <a:stretch>
            <a:fillRect/>
          </a:stretch>
        </p:blipFill>
        <p:spPr>
          <a:xfrm>
            <a:off x="731520" y="2935224"/>
            <a:ext cx="310896" cy="310896"/>
          </a:xfrm>
          <a:prstGeom prst="rect">
            <a:avLst/>
          </a:prstGeom>
        </p:spPr>
      </p:pic>
      <p:sp>
        <p:nvSpPr>
          <p:cNvPr id="13" name="Text 9"/>
          <p:cNvSpPr txBox="1"/>
          <p:nvPr/>
        </p:nvSpPr>
        <p:spPr>
          <a:xfrm>
            <a:off x="1188720" y="2752344"/>
            <a:ext cx="3108960" cy="676656"/>
          </a:xfrm>
          <a:prstGeom prst="rect">
            <a:avLst/>
          </a:prstGeom>
          <a:noFill/>
          <a:ln/>
        </p:spPr>
        <p:txBody>
          <a:bodyPr wrap="square" lIns="0" tIns="0" rIns="0" bIns="0" rtlCol="0" anchor="ctr"/>
          <a:lstStyle/>
          <a:p>
            <a:pPr indent="0" marL="0">
              <a:buNone/>
            </a:pPr>
            <a:r>
              <a:rPr lang="en-US" sz="1400" b="1" dirty="0">
                <a:solidFill>
                  <a:srgbClr val="E8EBF3"/>
                </a:solidFill>
                <a:latin typeface="Calibri" pitchFamily="34" charset="0"/>
                <a:ea typeface="Calibri" pitchFamily="34" charset="-122"/>
                <a:cs typeface="Calibri" pitchFamily="34" charset="-120"/>
              </a:rPr>
              <a:t>Truecaller AI Call Scanner</a:t>
            </a:r>
            <a:endParaRPr lang="en-US" sz="1400" dirty="0"/>
          </a:p>
        </p:txBody>
      </p:sp>
      <p:sp>
        <p:nvSpPr>
          <p:cNvPr id="14" name="Text 10"/>
          <p:cNvSpPr txBox="1"/>
          <p:nvPr/>
        </p:nvSpPr>
        <p:spPr>
          <a:xfrm>
            <a:off x="4389120" y="2752344"/>
            <a:ext cx="283464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Synthetic-voice detection</a:t>
            </a:r>
            <a:endParaRPr lang="en-US" sz="1300" dirty="0"/>
          </a:p>
        </p:txBody>
      </p:sp>
      <p:sp>
        <p:nvSpPr>
          <p:cNvPr id="15" name="Text 11"/>
          <p:cNvSpPr txBox="1"/>
          <p:nvPr/>
        </p:nvSpPr>
        <p:spPr>
          <a:xfrm>
            <a:off x="7315200" y="2752344"/>
            <a:ext cx="411480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Most scammers are humans reading a script.</a:t>
            </a:r>
            <a:endParaRPr lang="en-US" sz="1300" dirty="0"/>
          </a:p>
        </p:txBody>
      </p:sp>
      <p:sp>
        <p:nvSpPr>
          <p:cNvPr id="16" name="Shape 12"/>
          <p:cNvSpPr/>
          <p:nvPr/>
        </p:nvSpPr>
        <p:spPr>
          <a:xfrm>
            <a:off x="548640" y="3538728"/>
            <a:ext cx="11064240" cy="676656"/>
          </a:xfrm>
          <a:prstGeom prst="roundRect">
            <a:avLst>
              <a:gd name="adj" fmla="val 18919"/>
            </a:avLst>
          </a:prstGeom>
          <a:solidFill>
            <a:srgbClr val="0F1523"/>
          </a:solidFill>
          <a:ln w="9525">
            <a:solidFill>
              <a:srgbClr val="26304A"/>
            </a:solidFill>
            <a:prstDash val="solid"/>
          </a:ln>
        </p:spPr>
      </p:sp>
      <p:pic>
        <p:nvPicPr>
          <p:cNvPr id="17" name="Image 2" descr="preencoded.png">    </p:cNvPr>
          <p:cNvPicPr>
            <a:picLocks noChangeAspect="1"/>
          </p:cNvPicPr>
          <p:nvPr/>
        </p:nvPicPr>
        <p:blipFill>
          <a:blip r:embed="rId3"/>
          <a:stretch>
            <a:fillRect/>
          </a:stretch>
        </p:blipFill>
        <p:spPr>
          <a:xfrm>
            <a:off x="731520" y="3721608"/>
            <a:ext cx="310896" cy="310896"/>
          </a:xfrm>
          <a:prstGeom prst="rect">
            <a:avLst/>
          </a:prstGeom>
        </p:spPr>
      </p:pic>
      <p:sp>
        <p:nvSpPr>
          <p:cNvPr id="18" name="Text 13"/>
          <p:cNvSpPr txBox="1"/>
          <p:nvPr/>
        </p:nvSpPr>
        <p:spPr>
          <a:xfrm>
            <a:off x="1188720" y="3538728"/>
            <a:ext cx="3108960" cy="676656"/>
          </a:xfrm>
          <a:prstGeom prst="rect">
            <a:avLst/>
          </a:prstGeom>
          <a:noFill/>
          <a:ln/>
        </p:spPr>
        <p:txBody>
          <a:bodyPr wrap="square" lIns="0" tIns="0" rIns="0" bIns="0" rtlCol="0" anchor="ctr"/>
          <a:lstStyle/>
          <a:p>
            <a:pPr indent="0" marL="0">
              <a:buNone/>
            </a:pPr>
            <a:r>
              <a:rPr lang="en-US" sz="1400" b="1" dirty="0">
                <a:solidFill>
                  <a:srgbClr val="E8EBF3"/>
                </a:solidFill>
                <a:latin typeface="Calibri" pitchFamily="34" charset="0"/>
                <a:ea typeface="Calibri" pitchFamily="34" charset="-122"/>
                <a:cs typeface="Calibri" pitchFamily="34" charset="-120"/>
              </a:rPr>
              <a:t>Google Pixel Scam Detection</a:t>
            </a:r>
            <a:endParaRPr lang="en-US" sz="1400" dirty="0"/>
          </a:p>
        </p:txBody>
      </p:sp>
      <p:sp>
        <p:nvSpPr>
          <p:cNvPr id="19" name="Text 14"/>
          <p:cNvSpPr txBox="1"/>
          <p:nvPr/>
        </p:nvSpPr>
        <p:spPr>
          <a:xfrm>
            <a:off x="4389120" y="3538728"/>
            <a:ext cx="283464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On-device content analysis</a:t>
            </a:r>
            <a:endParaRPr lang="en-US" sz="1300" dirty="0"/>
          </a:p>
        </p:txBody>
      </p:sp>
      <p:sp>
        <p:nvSpPr>
          <p:cNvPr id="20" name="Text 15"/>
          <p:cNvSpPr txBox="1"/>
          <p:nvPr/>
        </p:nvSpPr>
        <p:spPr>
          <a:xfrm>
            <a:off x="7315200" y="3538728"/>
            <a:ext cx="411480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Pixel 9+ only — under 1% of Indian phones.</a:t>
            </a:r>
            <a:endParaRPr lang="en-US" sz="1300" dirty="0"/>
          </a:p>
        </p:txBody>
      </p:sp>
      <p:sp>
        <p:nvSpPr>
          <p:cNvPr id="21" name="Shape 16"/>
          <p:cNvSpPr/>
          <p:nvPr/>
        </p:nvSpPr>
        <p:spPr>
          <a:xfrm>
            <a:off x="548640" y="4325112"/>
            <a:ext cx="11064240" cy="676656"/>
          </a:xfrm>
          <a:prstGeom prst="roundRect">
            <a:avLst>
              <a:gd name="adj" fmla="val 18919"/>
            </a:avLst>
          </a:prstGeom>
          <a:solidFill>
            <a:srgbClr val="0F1523"/>
          </a:solidFill>
          <a:ln w="9525">
            <a:solidFill>
              <a:srgbClr val="26304A"/>
            </a:solidFill>
            <a:prstDash val="solid"/>
          </a:ln>
        </p:spPr>
      </p:sp>
      <p:pic>
        <p:nvPicPr>
          <p:cNvPr id="22" name="Image 3" descr="preencoded.png">    </p:cNvPr>
          <p:cNvPicPr>
            <a:picLocks noChangeAspect="1"/>
          </p:cNvPicPr>
          <p:nvPr/>
        </p:nvPicPr>
        <p:blipFill>
          <a:blip r:embed="rId4"/>
          <a:stretch>
            <a:fillRect/>
          </a:stretch>
        </p:blipFill>
        <p:spPr>
          <a:xfrm>
            <a:off x="731520" y="4507992"/>
            <a:ext cx="310896" cy="310896"/>
          </a:xfrm>
          <a:prstGeom prst="rect">
            <a:avLst/>
          </a:prstGeom>
        </p:spPr>
      </p:pic>
      <p:sp>
        <p:nvSpPr>
          <p:cNvPr id="23" name="Text 17"/>
          <p:cNvSpPr txBox="1"/>
          <p:nvPr/>
        </p:nvSpPr>
        <p:spPr>
          <a:xfrm>
            <a:off x="1188720" y="4325112"/>
            <a:ext cx="3108960" cy="676656"/>
          </a:xfrm>
          <a:prstGeom prst="rect">
            <a:avLst/>
          </a:prstGeom>
          <a:noFill/>
          <a:ln/>
        </p:spPr>
        <p:txBody>
          <a:bodyPr wrap="square" lIns="0" tIns="0" rIns="0" bIns="0" rtlCol="0" anchor="ctr"/>
          <a:lstStyle/>
          <a:p>
            <a:pPr indent="0" marL="0">
              <a:buNone/>
            </a:pPr>
            <a:r>
              <a:rPr lang="en-US" sz="1400" b="1" dirty="0">
                <a:solidFill>
                  <a:srgbClr val="E8EBF3"/>
                </a:solidFill>
                <a:latin typeface="Calibri" pitchFamily="34" charset="0"/>
                <a:ea typeface="Calibri" pitchFamily="34" charset="-122"/>
                <a:cs typeface="Calibri" pitchFamily="34" charset="-120"/>
              </a:rPr>
              <a:t>Hiya AI Phone</a:t>
            </a:r>
            <a:endParaRPr lang="en-US" sz="1400" dirty="0"/>
          </a:p>
        </p:txBody>
      </p:sp>
      <p:sp>
        <p:nvSpPr>
          <p:cNvPr id="24" name="Text 18"/>
          <p:cNvSpPr txBox="1"/>
          <p:nvPr/>
        </p:nvSpPr>
        <p:spPr>
          <a:xfrm>
            <a:off x="4389120" y="4325112"/>
            <a:ext cx="283464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Cloud content analysis</a:t>
            </a:r>
            <a:endParaRPr lang="en-US" sz="1300" dirty="0"/>
          </a:p>
        </p:txBody>
      </p:sp>
      <p:sp>
        <p:nvSpPr>
          <p:cNvPr id="25" name="Text 19"/>
          <p:cNvSpPr txBox="1"/>
          <p:nvPr/>
        </p:nvSpPr>
        <p:spPr>
          <a:xfrm>
            <a:off x="7315200" y="4325112"/>
            <a:ext cx="4114800" cy="676656"/>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US only, $9.99/month, cloud round-trip per fragment.</a:t>
            </a:r>
            <a:endParaRPr lang="en-US" sz="1300" dirty="0"/>
          </a:p>
        </p:txBody>
      </p:sp>
      <p:sp>
        <p:nvSpPr>
          <p:cNvPr id="26" name="Shape 20"/>
          <p:cNvSpPr/>
          <p:nvPr/>
        </p:nvSpPr>
        <p:spPr>
          <a:xfrm>
            <a:off x="548640" y="5111496"/>
            <a:ext cx="11064240" cy="676656"/>
          </a:xfrm>
          <a:prstGeom prst="roundRect">
            <a:avLst>
              <a:gd name="adj" fmla="val 18919"/>
            </a:avLst>
          </a:prstGeom>
          <a:solidFill>
            <a:srgbClr val="1A1608"/>
          </a:solidFill>
          <a:ln w="9525">
            <a:solidFill>
              <a:srgbClr val="F5A524"/>
            </a:solidFill>
            <a:prstDash val="solid"/>
          </a:ln>
        </p:spPr>
      </p:sp>
      <p:pic>
        <p:nvPicPr>
          <p:cNvPr id="27" name="Image 4" descr="preencoded.png">    </p:cNvPr>
          <p:cNvPicPr>
            <a:picLocks noChangeAspect="1"/>
          </p:cNvPicPr>
          <p:nvPr/>
        </p:nvPicPr>
        <p:blipFill>
          <a:blip r:embed="rId5"/>
          <a:stretch>
            <a:fillRect/>
          </a:stretch>
        </p:blipFill>
        <p:spPr>
          <a:xfrm>
            <a:off x="731520" y="5294376"/>
            <a:ext cx="310896" cy="310896"/>
          </a:xfrm>
          <a:prstGeom prst="rect">
            <a:avLst/>
          </a:prstGeom>
        </p:spPr>
      </p:pic>
      <p:sp>
        <p:nvSpPr>
          <p:cNvPr id="28" name="Text 21"/>
          <p:cNvSpPr txBox="1"/>
          <p:nvPr/>
        </p:nvSpPr>
        <p:spPr>
          <a:xfrm>
            <a:off x="1188720" y="5111496"/>
            <a:ext cx="3108960" cy="676656"/>
          </a:xfrm>
          <a:prstGeom prst="rect">
            <a:avLst/>
          </a:prstGeom>
          <a:noFill/>
          <a:ln/>
        </p:spPr>
        <p:txBody>
          <a:bodyPr wrap="square" lIns="0" tIns="0" rIns="0" bIns="0" rtlCol="0" anchor="ctr"/>
          <a:lstStyle/>
          <a:p>
            <a:pPr indent="0" marL="0">
              <a:buNone/>
            </a:pPr>
            <a:r>
              <a:rPr lang="en-US" sz="1400" b="1" dirty="0">
                <a:solidFill>
                  <a:srgbClr val="E8EBF3"/>
                </a:solidFill>
                <a:latin typeface="Calibri" pitchFamily="34" charset="0"/>
                <a:ea typeface="Calibri" pitchFamily="34" charset="-122"/>
                <a:cs typeface="Calibri" pitchFamily="34" charset="-120"/>
              </a:rPr>
              <a:t>Raksha</a:t>
            </a:r>
            <a:endParaRPr lang="en-US" sz="1400" dirty="0"/>
          </a:p>
        </p:txBody>
      </p:sp>
      <p:sp>
        <p:nvSpPr>
          <p:cNvPr id="29" name="Text 22"/>
          <p:cNvSpPr txBox="1"/>
          <p:nvPr/>
        </p:nvSpPr>
        <p:spPr>
          <a:xfrm>
            <a:off x="4389120" y="5111496"/>
            <a:ext cx="2834640" cy="676656"/>
          </a:xfrm>
          <a:prstGeom prst="rect">
            <a:avLst/>
          </a:prstGeom>
          <a:noFill/>
          <a:ln/>
        </p:spPr>
        <p:txBody>
          <a:bodyPr wrap="square" lIns="0" tIns="0" rIns="0" bIns="0" rtlCol="0" anchor="ctr"/>
          <a:lstStyle/>
          <a:p>
            <a:pPr indent="0" marL="0">
              <a:buNone/>
            </a:pPr>
            <a:r>
              <a:rPr lang="en-US" sz="1300" dirty="0">
                <a:solidFill>
                  <a:srgbClr val="FFC75F"/>
                </a:solidFill>
                <a:latin typeface="Calibri" pitchFamily="34" charset="0"/>
                <a:ea typeface="Calibri" pitchFamily="34" charset="-122"/>
                <a:cs typeface="Calibri" pitchFamily="34" charset="-120"/>
              </a:rPr>
              <a:t>Script-level detection + intervention</a:t>
            </a:r>
            <a:endParaRPr lang="en-US" sz="1300" dirty="0"/>
          </a:p>
        </p:txBody>
      </p:sp>
      <p:sp>
        <p:nvSpPr>
          <p:cNvPr id="30" name="Text 23"/>
          <p:cNvSpPr txBox="1"/>
          <p:nvPr/>
        </p:nvSpPr>
        <p:spPr>
          <a:xfrm>
            <a:off x="7315200" y="5111496"/>
            <a:ext cx="4114800" cy="676656"/>
          </a:xfrm>
          <a:prstGeom prst="rect">
            <a:avLst/>
          </a:prstGeom>
          <a:noFill/>
          <a:ln/>
        </p:spPr>
        <p:txBody>
          <a:bodyPr wrap="square" lIns="0" tIns="0" rIns="0" bIns="0" rtlCol="0" anchor="ctr"/>
          <a:lstStyle/>
          <a:p>
            <a:pPr indent="0" marL="0">
              <a:buNone/>
            </a:pPr>
            <a:r>
              <a:rPr lang="en-US" sz="1300" dirty="0">
                <a:solidFill>
                  <a:srgbClr val="E8EBF3"/>
                </a:solidFill>
                <a:latin typeface="Calibri" pitchFamily="34" charset="0"/>
                <a:ea typeface="Calibri" pitchFamily="34" charset="-122"/>
                <a:cs typeface="Calibri" pitchFamily="34" charset="-120"/>
              </a:rPr>
              <a:t>Any phone. In-process retrieval. Says what to do. Alerts family.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THE PRODUCT</a:t>
            </a:r>
            <a:endParaRPr lang="en-US" sz="1000" dirty="0"/>
          </a:p>
        </p:txBody>
      </p:sp>
      <p:sp>
        <p:nvSpPr>
          <p:cNvPr id="5" name="Text 3"/>
          <p:cNvSpPr txBox="1"/>
          <p:nvPr/>
        </p:nvSpPr>
        <p:spPr>
          <a:xfrm>
            <a:off x="548640" y="411480"/>
            <a:ext cx="11064240" cy="1097280"/>
          </a:xfrm>
          <a:prstGeom prst="rect">
            <a:avLst/>
          </a:prstGeom>
          <a:noFill/>
          <a:ln/>
        </p:spPr>
        <p:txBody>
          <a:bodyPr wrap="square" lIns="0" tIns="0" rIns="0" bIns="0" rtlCol="0" anchor="t"/>
          <a:lstStyle/>
          <a:p>
            <a:pPr indent="0" marL="0">
              <a:buNone/>
            </a:pPr>
            <a:r>
              <a:rPr lang="en-US" sz="3000" dirty="0">
                <a:solidFill>
                  <a:srgbClr val="E8EBF3"/>
                </a:solidFill>
                <a:latin typeface="Cambria" pitchFamily="34" charset="0"/>
                <a:ea typeface="Cambria" pitchFamily="34" charset="-122"/>
                <a:cs typeface="Cambria" pitchFamily="34" charset="-120"/>
              </a:rPr>
              <a:t>Meet Raksha. It listens with you, recognises the script, and steps in.</a:t>
            </a:r>
            <a:endParaRPr lang="en-US" sz="3000" dirty="0"/>
          </a:p>
        </p:txBody>
      </p:sp>
      <p:pic>
        <p:nvPicPr>
          <p:cNvPr id="6" name="Image 0" descr="/home/user/YC-Fall-2026-x-Moss/docs/screenshots/shield-intervention.png">    </p:cNvPr>
          <p:cNvPicPr>
            <a:picLocks noChangeAspect="1"/>
          </p:cNvPicPr>
          <p:nvPr/>
        </p:nvPicPr>
        <p:blipFill>
          <a:blip r:embed="rId1"/>
          <a:stretch>
            <a:fillRect/>
          </a:stretch>
        </p:blipFill>
        <p:spPr>
          <a:xfrm>
            <a:off x="548640" y="1691640"/>
            <a:ext cx="6949440" cy="4343400"/>
          </a:xfrm>
          <a:prstGeom prst="ellipse">
            <a:avLst/>
          </a:prstGeom>
        </p:spPr>
      </p:pic>
      <p:sp>
        <p:nvSpPr>
          <p:cNvPr id="7" name="Shape 4"/>
          <p:cNvSpPr/>
          <p:nvPr/>
        </p:nvSpPr>
        <p:spPr>
          <a:xfrm>
            <a:off x="7818120" y="1783080"/>
            <a:ext cx="475488" cy="475488"/>
          </a:xfrm>
          <a:prstGeom prst="ellipse">
            <a:avLst/>
          </a:prstGeom>
          <a:solidFill>
            <a:srgbClr val="151C2E"/>
          </a:solidFill>
          <a:ln w="6350">
            <a:solidFill>
              <a:srgbClr val="26304A"/>
            </a:solidFill>
            <a:prstDash val="solid"/>
          </a:ln>
        </p:spPr>
      </p:sp>
      <p:pic>
        <p:nvPicPr>
          <p:cNvPr id="8" name="Image 1" descr="preencoded.png">    </p:cNvPr>
          <p:cNvPicPr>
            <a:picLocks noChangeAspect="1"/>
          </p:cNvPicPr>
          <p:nvPr/>
        </p:nvPicPr>
        <p:blipFill>
          <a:blip r:embed="rId2"/>
          <a:stretch>
            <a:fillRect/>
          </a:stretch>
        </p:blipFill>
        <p:spPr>
          <a:xfrm>
            <a:off x="7932237" y="1897197"/>
            <a:ext cx="247254" cy="247254"/>
          </a:xfrm>
          <a:prstGeom prst="rect">
            <a:avLst/>
          </a:prstGeom>
        </p:spPr>
      </p:pic>
      <p:sp>
        <p:nvSpPr>
          <p:cNvPr id="9" name="Text 5"/>
          <p:cNvSpPr txBox="1"/>
          <p:nvPr/>
        </p:nvSpPr>
        <p:spPr>
          <a:xfrm>
            <a:off x="8458200" y="1764792"/>
            <a:ext cx="3291840" cy="41148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Every fragment, even mid-sentence</a:t>
            </a:r>
            <a:endParaRPr lang="en-US" sz="1500" dirty="0"/>
          </a:p>
        </p:txBody>
      </p:sp>
      <p:sp>
        <p:nvSpPr>
          <p:cNvPr id="10" name="Text 6"/>
          <p:cNvSpPr txBox="1"/>
          <p:nvPr/>
        </p:nvSpPr>
        <p:spPr>
          <a:xfrm>
            <a:off x="8458200" y="2167128"/>
            <a:ext cx="3291840" cy="86868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Speech becomes text on the device; each fragment is a query.</a:t>
            </a:r>
            <a:endParaRPr lang="en-US" sz="1250" dirty="0"/>
          </a:p>
        </p:txBody>
      </p:sp>
      <p:sp>
        <p:nvSpPr>
          <p:cNvPr id="11" name="Shape 7"/>
          <p:cNvSpPr/>
          <p:nvPr/>
        </p:nvSpPr>
        <p:spPr>
          <a:xfrm>
            <a:off x="7818120" y="3200400"/>
            <a:ext cx="475488" cy="475488"/>
          </a:xfrm>
          <a:prstGeom prst="ellipse">
            <a:avLst/>
          </a:prstGeom>
          <a:solidFill>
            <a:srgbClr val="151C2E"/>
          </a:solidFill>
          <a:ln w="6350">
            <a:solidFill>
              <a:srgbClr val="26304A"/>
            </a:solidFill>
            <a:prstDash val="solid"/>
          </a:ln>
        </p:spPr>
      </p:sp>
      <p:pic>
        <p:nvPicPr>
          <p:cNvPr id="12" name="Image 2" descr="preencoded.png">    </p:cNvPr>
          <p:cNvPicPr>
            <a:picLocks noChangeAspect="1"/>
          </p:cNvPicPr>
          <p:nvPr/>
        </p:nvPicPr>
        <p:blipFill>
          <a:blip r:embed="rId3"/>
          <a:stretch>
            <a:fillRect/>
          </a:stretch>
        </p:blipFill>
        <p:spPr>
          <a:xfrm>
            <a:off x="7932237" y="3314517"/>
            <a:ext cx="247254" cy="247254"/>
          </a:xfrm>
          <a:prstGeom prst="rect">
            <a:avLst/>
          </a:prstGeom>
        </p:spPr>
      </p:pic>
      <p:sp>
        <p:nvSpPr>
          <p:cNvPr id="13" name="Text 8"/>
          <p:cNvSpPr txBox="1"/>
          <p:nvPr/>
        </p:nvSpPr>
        <p:spPr>
          <a:xfrm>
            <a:off x="8458200" y="3182112"/>
            <a:ext cx="3291840" cy="41148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Recognised in ≈ 10 ms</a:t>
            </a:r>
            <a:endParaRPr lang="en-US" sz="1500" dirty="0"/>
          </a:p>
        </p:txBody>
      </p:sp>
      <p:sp>
        <p:nvSpPr>
          <p:cNvPr id="14" name="Text 9"/>
          <p:cNvSpPr txBox="1"/>
          <p:nvPr/>
        </p:nvSpPr>
        <p:spPr>
          <a:xfrm>
            <a:off x="8458200" y="3584448"/>
            <a:ext cx="3291840" cy="86868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Matched against 409 real scam lines in-process with Moss, including on-device embedding. No vector DB, no round-trip.</a:t>
            </a:r>
            <a:endParaRPr lang="en-US" sz="1250" dirty="0"/>
          </a:p>
        </p:txBody>
      </p:sp>
      <p:sp>
        <p:nvSpPr>
          <p:cNvPr id="15" name="Shape 10"/>
          <p:cNvSpPr/>
          <p:nvPr/>
        </p:nvSpPr>
        <p:spPr>
          <a:xfrm>
            <a:off x="7818120" y="4617720"/>
            <a:ext cx="475488" cy="475488"/>
          </a:xfrm>
          <a:prstGeom prst="ellipse">
            <a:avLst/>
          </a:prstGeom>
          <a:solidFill>
            <a:srgbClr val="151C2E"/>
          </a:solidFill>
          <a:ln w="6350">
            <a:solidFill>
              <a:srgbClr val="26304A"/>
            </a:solidFill>
            <a:prstDash val="solid"/>
          </a:ln>
        </p:spPr>
      </p:sp>
      <p:pic>
        <p:nvPicPr>
          <p:cNvPr id="16" name="Image 3" descr="preencoded.png">    </p:cNvPr>
          <p:cNvPicPr>
            <a:picLocks noChangeAspect="1"/>
          </p:cNvPicPr>
          <p:nvPr/>
        </p:nvPicPr>
        <p:blipFill>
          <a:blip r:embed="rId4"/>
          <a:stretch>
            <a:fillRect/>
          </a:stretch>
        </p:blipFill>
        <p:spPr>
          <a:xfrm>
            <a:off x="7932237" y="4731837"/>
            <a:ext cx="247254" cy="247254"/>
          </a:xfrm>
          <a:prstGeom prst="rect">
            <a:avLst/>
          </a:prstGeom>
        </p:spPr>
      </p:pic>
      <p:sp>
        <p:nvSpPr>
          <p:cNvPr id="17" name="Text 11"/>
          <p:cNvSpPr txBox="1"/>
          <p:nvPr/>
        </p:nvSpPr>
        <p:spPr>
          <a:xfrm>
            <a:off x="8458200" y="4599432"/>
            <a:ext cx="3291840" cy="41148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One sentence to say</a:t>
            </a:r>
            <a:endParaRPr lang="en-US" sz="1500" dirty="0"/>
          </a:p>
        </p:txBody>
      </p:sp>
      <p:sp>
        <p:nvSpPr>
          <p:cNvPr id="18" name="Text 12"/>
          <p:cNvSpPr txBox="1"/>
          <p:nvPr/>
        </p:nvSpPr>
        <p:spPr>
          <a:xfrm>
            <a:off x="8458200" y="5001768"/>
            <a:ext cx="3291840" cy="86868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It names the script, gives the exact words to end the call, and speaks them aloud.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34D399"/>
                </a:solidFill>
                <a:latin typeface="Calibri" pitchFamily="34" charset="0"/>
                <a:ea typeface="Calibri" pitchFamily="34" charset="-122"/>
                <a:cs typeface="Calibri" pitchFamily="34" charset="-120"/>
              </a:rPr>
              <a:t>HOW IT WORKS</a:t>
            </a:r>
            <a:endParaRPr lang="en-US" sz="1000" dirty="0"/>
          </a:p>
        </p:txBody>
      </p:sp>
      <p:sp>
        <p:nvSpPr>
          <p:cNvPr id="5" name="Text 3"/>
          <p:cNvSpPr txBox="1"/>
          <p:nvPr/>
        </p:nvSpPr>
        <p:spPr>
          <a:xfrm>
            <a:off x="548640" y="411480"/>
            <a:ext cx="11064240" cy="1097280"/>
          </a:xfrm>
          <a:prstGeom prst="rect">
            <a:avLst/>
          </a:prstGeom>
          <a:noFill/>
          <a:ln/>
        </p:spPr>
        <p:txBody>
          <a:bodyPr wrap="square" lIns="0" tIns="0" rIns="0" bIns="0" rtlCol="0" anchor="t"/>
          <a:lstStyle/>
          <a:p>
            <a:pPr indent="0" marL="0">
              <a:buNone/>
            </a:pPr>
            <a:r>
              <a:rPr lang="en-US" sz="3000" dirty="0">
                <a:solidFill>
                  <a:srgbClr val="E8EBF3"/>
                </a:solidFill>
                <a:latin typeface="Cambria" pitchFamily="34" charset="0"/>
                <a:ea typeface="Cambria" pitchFamily="34" charset="-122"/>
                <a:cs typeface="Cambria" pitchFamily="34" charset="-120"/>
              </a:rPr>
              <a:t>A fast path that never waits for the cloud. A slow path that knows what to say.</a:t>
            </a:r>
            <a:endParaRPr lang="en-US" sz="3000" dirty="0"/>
          </a:p>
        </p:txBody>
      </p:sp>
      <p:sp>
        <p:nvSpPr>
          <p:cNvPr id="6" name="Shape 4"/>
          <p:cNvSpPr/>
          <p:nvPr/>
        </p:nvSpPr>
        <p:spPr>
          <a:xfrm>
            <a:off x="548640" y="1737360"/>
            <a:ext cx="6675120" cy="4343400"/>
          </a:xfrm>
          <a:prstGeom prst="roundRect">
            <a:avLst>
              <a:gd name="adj" fmla="val 2947"/>
            </a:avLst>
          </a:prstGeom>
          <a:solidFill>
            <a:srgbClr val="0F1523"/>
          </a:solidFill>
          <a:ln w="9525">
            <a:solidFill>
              <a:srgbClr val="34D399"/>
            </a:solidFill>
            <a:prstDash val="solid"/>
          </a:ln>
        </p:spPr>
      </p:sp>
      <p:sp>
        <p:nvSpPr>
          <p:cNvPr id="7" name="Text 5"/>
          <p:cNvSpPr txBox="1"/>
          <p:nvPr/>
        </p:nvSpPr>
        <p:spPr>
          <a:xfrm>
            <a:off x="777240" y="1874520"/>
            <a:ext cx="6217920" cy="274320"/>
          </a:xfrm>
          <a:prstGeom prst="rect">
            <a:avLst/>
          </a:prstGeom>
          <a:noFill/>
          <a:ln/>
        </p:spPr>
        <p:txBody>
          <a:bodyPr wrap="square" lIns="0" tIns="0" rIns="0" bIns="0" rtlCol="0" anchor="ctr"/>
          <a:lstStyle/>
          <a:p>
            <a:pPr indent="0" marL="0">
              <a:buNone/>
            </a:pPr>
            <a:r>
              <a:rPr lang="en-US" sz="1000" b="1" spc="200" kern="0" dirty="0">
                <a:solidFill>
                  <a:srgbClr val="34D399"/>
                </a:solidFill>
                <a:latin typeface="Calibri" pitchFamily="34" charset="0"/>
                <a:ea typeface="Calibri" pitchFamily="34" charset="-122"/>
                <a:cs typeface="Calibri" pitchFamily="34" charset="-120"/>
              </a:rPr>
              <a:t>FAST PATH · EVERY FRAGMENT · ≈ 10 MS</a:t>
            </a:r>
            <a:endParaRPr lang="en-US" sz="1000" dirty="0"/>
          </a:p>
        </p:txBody>
      </p:sp>
      <p:sp>
        <p:nvSpPr>
          <p:cNvPr id="8" name="Text 6"/>
          <p:cNvSpPr txBox="1"/>
          <p:nvPr/>
        </p:nvSpPr>
        <p:spPr>
          <a:xfrm>
            <a:off x="777240" y="2240280"/>
            <a:ext cx="62179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8EBF3"/>
                </a:solidFill>
                <a:latin typeface="Calibri" pitchFamily="34" charset="0"/>
                <a:ea typeface="Calibri" pitchFamily="34" charset="-122"/>
                <a:cs typeface="Calibri" pitchFamily="34" charset="-120"/>
              </a:rPr>
              <a:t>Moss runtime, in-process: the playbook index is loaded at boot and queried with raw cosine scores (alpha 1.0, top-6).</a:t>
            </a:r>
            <a:endParaRPr lang="en-US" sz="1500" dirty="0"/>
          </a:p>
          <a:p>
            <a:pPr marL="342900" indent="-342900">
              <a:spcAft>
                <a:spcPts val="800"/>
              </a:spcAft>
              <a:buSzPct val="100000"/>
              <a:buChar char="•"/>
            </a:pPr>
            <a:r>
              <a:rPr lang="en-US" sz="1500" dirty="0">
                <a:solidFill>
                  <a:srgbClr val="E8EBF3"/>
                </a:solidFill>
                <a:latin typeface="Calibri" pitchFamily="34" charset="0"/>
                <a:ea typeface="Calibri" pitchFamily="34" charset="-122"/>
                <a:cs typeface="Calibri" pitchFamily="34" charset="-120"/>
              </a:rPr>
              <a:t>Cosine → calibrated confidence. Benign look-alikes in the same index out-vote tactic lines (“we will never ask for your OTP” stays quiet).</a:t>
            </a:r>
            <a:endParaRPr lang="en-US" sz="1500" dirty="0"/>
          </a:p>
          <a:p>
            <a:pPr marL="342900" indent="-342900">
              <a:spcAft>
                <a:spcPts val="800"/>
              </a:spcAft>
              <a:buSzPct val="100000"/>
              <a:buChar char="•"/>
            </a:pPr>
            <a:r>
              <a:rPr lang="en-US" sz="1500" dirty="0">
                <a:solidFill>
                  <a:srgbClr val="E8EBF3"/>
                </a:solidFill>
                <a:latin typeface="Calibri" pitchFamily="34" charset="0"/>
                <a:ea typeface="Calibri" pitchFamily="34" charset="-122"/>
                <a:cs typeface="Calibri" pitchFamily="34" charset="-120"/>
              </a:rPr>
              <a:t>Speaker-aware: the person's own words only ever count as compliance.</a:t>
            </a:r>
            <a:endParaRPr lang="en-US" sz="1500" dirty="0"/>
          </a:p>
          <a:p>
            <a:pPr marL="342900" indent="-342900">
              <a:spcAft>
                <a:spcPts val="800"/>
              </a:spcAft>
              <a:buSzPct val="100000"/>
              <a:buChar char="•"/>
            </a:pPr>
            <a:r>
              <a:rPr lang="en-US" sz="1500" dirty="0">
                <a:solidFill>
                  <a:srgbClr val="E8EBF3"/>
                </a:solidFill>
                <a:latin typeface="Calibri" pitchFamily="34" charset="0"/>
                <a:ea typeface="Calibri" pitchFamily="34" charset="-122"/>
                <a:cs typeface="Calibri" pitchFamily="34" charset="-120"/>
              </a:rPr>
              <a:t>Noisy-OR over 21 persuasion tactics; evidence persists for the whole call.</a:t>
            </a:r>
            <a:endParaRPr lang="en-US" sz="1500" dirty="0"/>
          </a:p>
          <a:p>
            <a:pPr marL="342900" indent="-342900">
              <a:spcAft>
                <a:spcPts val="800"/>
              </a:spcAft>
              <a:buSzPct val="100000"/>
              <a:buChar char="•"/>
            </a:pPr>
            <a:r>
              <a:rPr lang="en-US" sz="1500" dirty="0">
                <a:solidFill>
                  <a:srgbClr val="E8EBF3"/>
                </a:solidFill>
                <a:latin typeface="Calibri" pitchFamily="34" charset="0"/>
                <a:ea typeface="Calibri" pitchFamily="34" charset="-122"/>
                <a:cs typeface="Calibri" pitchFamily="34" charset="-120"/>
              </a:rPr>
              <a:t>Rule 1 — pressure + ask (the triad) ⇒ DANGER.   Rule 2 — victim about to comply ⇒ intervene now.</a:t>
            </a:r>
            <a:endParaRPr lang="en-US" sz="1500" dirty="0"/>
          </a:p>
        </p:txBody>
      </p:sp>
      <p:sp>
        <p:nvSpPr>
          <p:cNvPr id="9" name="Shape 7"/>
          <p:cNvSpPr/>
          <p:nvPr/>
        </p:nvSpPr>
        <p:spPr>
          <a:xfrm>
            <a:off x="7498080" y="1737360"/>
            <a:ext cx="4114800" cy="4343400"/>
          </a:xfrm>
          <a:prstGeom prst="roundRect">
            <a:avLst>
              <a:gd name="adj" fmla="val 3111"/>
            </a:avLst>
          </a:prstGeom>
          <a:solidFill>
            <a:srgbClr val="0F1523"/>
          </a:solidFill>
          <a:ln w="9525">
            <a:solidFill>
              <a:srgbClr val="F5A524"/>
            </a:solidFill>
            <a:prstDash val="solid"/>
          </a:ln>
        </p:spPr>
      </p:sp>
      <p:sp>
        <p:nvSpPr>
          <p:cNvPr id="10" name="Text 8"/>
          <p:cNvSpPr txBox="1"/>
          <p:nvPr/>
        </p:nvSpPr>
        <p:spPr>
          <a:xfrm>
            <a:off x="7726680" y="1874520"/>
            <a:ext cx="3657600" cy="274320"/>
          </a:xfrm>
          <a:prstGeom prst="rect">
            <a:avLst/>
          </a:prstGeom>
          <a:noFill/>
          <a:ln/>
        </p:spPr>
        <p:txBody>
          <a:bodyPr wrap="square" lIns="0" tIns="0" rIns="0" bIns="0" rtlCol="0" anchor="ctr"/>
          <a:lstStyle/>
          <a:p>
            <a:pPr indent="0" marL="0">
              <a:buNone/>
            </a:pPr>
            <a:r>
              <a:rPr lang="en-US" sz="1000" b="1" spc="200" kern="0" dirty="0">
                <a:solidFill>
                  <a:srgbClr val="F5A524"/>
                </a:solidFill>
                <a:latin typeface="Calibri" pitchFamily="34" charset="0"/>
                <a:ea typeface="Calibri" pitchFamily="34" charset="-122"/>
                <a:cs typeface="Calibri" pitchFamily="34" charset="-120"/>
              </a:rPr>
              <a:t>SLOW PATH · ASYNC · ON TRANSITIONS</a:t>
            </a:r>
            <a:endParaRPr lang="en-US" sz="1000" dirty="0"/>
          </a:p>
        </p:txBody>
      </p:sp>
      <p:sp>
        <p:nvSpPr>
          <p:cNvPr id="11" name="Text 9"/>
          <p:cNvSpPr txBox="1"/>
          <p:nvPr/>
        </p:nvSpPr>
        <p:spPr>
          <a:xfrm>
            <a:off x="7726680" y="2240280"/>
            <a:ext cx="3657600" cy="36576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E8EBF3"/>
                </a:solidFill>
                <a:latin typeface="Calibri" pitchFamily="34" charset="0"/>
                <a:ea typeface="Calibri" pitchFamily="34" charset="-122"/>
                <a:cs typeface="Calibri" pitchFamily="34" charset="-120"/>
              </a:rPr>
              <a:t>A 20B model (Groq) returns a JSON contract: verdict · explanation · say this · action.</a:t>
            </a:r>
            <a:endParaRPr lang="en-US" sz="1350" dirty="0"/>
          </a:p>
          <a:p>
            <a:pPr marL="342900" indent="-342900">
              <a:spcAft>
                <a:spcPts val="800"/>
              </a:spcAft>
              <a:buSzPct val="100000"/>
              <a:buChar char="•"/>
            </a:pPr>
            <a:r>
              <a:rPr lang="en-US" sz="1350" dirty="0">
                <a:solidFill>
                  <a:srgbClr val="E8EBF3"/>
                </a:solidFill>
                <a:latin typeface="Calibri" pitchFamily="34" charset="0"/>
                <a:ea typeface="Calibri" pitchFamily="34" charset="-122"/>
                <a:cs typeface="Calibri" pitchFamily="34" charset="-120"/>
              </a:rPr>
              <a:t>Only when risk changes, never per fragment: ≈ 300–800 ms, off the critical path.</a:t>
            </a:r>
            <a:endParaRPr lang="en-US" sz="1350" dirty="0"/>
          </a:p>
          <a:p>
            <a:pPr marL="342900" indent="-342900">
              <a:spcAft>
                <a:spcPts val="800"/>
              </a:spcAft>
              <a:buSzPct val="100000"/>
              <a:buChar char="•"/>
            </a:pPr>
            <a:r>
              <a:rPr lang="en-US" sz="1350" dirty="0">
                <a:solidFill>
                  <a:srgbClr val="E8EBF3"/>
                </a:solidFill>
                <a:latin typeface="Calibri" pitchFamily="34" charset="0"/>
                <a:ea typeface="Calibri" pitchFamily="34" charset="-122"/>
                <a:cs typeface="Calibri" pitchFamily="34" charset="-120"/>
              </a:rPr>
              <a:t>A confident “benign” verdict can veto CAUTION. It can never override DANGER.</a:t>
            </a:r>
            <a:endParaRPr lang="en-US" sz="1350" dirty="0"/>
          </a:p>
          <a:p>
            <a:pPr marL="342900" indent="-342900">
              <a:spcAft>
                <a:spcPts val="800"/>
              </a:spcAft>
              <a:buSzPct val="100000"/>
              <a:buChar char="•"/>
            </a:pPr>
            <a:r>
              <a:rPr lang="en-US" sz="1350" dirty="0">
                <a:solidFill>
                  <a:srgbClr val="E8EBF3"/>
                </a:solidFill>
                <a:latin typeface="Calibri" pitchFamily="34" charset="0"/>
                <a:ea typeface="Calibri" pitchFamily="34" charset="-122"/>
                <a:cs typeface="Calibri" pitchFamily="34" charset="-120"/>
              </a:rPr>
              <a:t>Template fallback: the product works with no LLM key at all.</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34D399"/>
                </a:solidFill>
                <a:latin typeface="Calibri" pitchFamily="34" charset="0"/>
                <a:ea typeface="Calibri" pitchFamily="34" charset="-122"/>
                <a:cs typeface="Calibri" pitchFamily="34" charset="-120"/>
              </a:rPr>
              <a:t>ARCHITECTURE</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2600" dirty="0">
                <a:solidFill>
                  <a:srgbClr val="E8EBF3"/>
                </a:solidFill>
                <a:latin typeface="Cambria" pitchFamily="34" charset="0"/>
                <a:ea typeface="Cambria" pitchFamily="34" charset="-122"/>
                <a:cs typeface="Cambria" pitchFamily="34" charset="-120"/>
              </a:rPr>
              <a:t>One Node process: Next.js, WebSockets and the Moss runtime share one memory.</a:t>
            </a:r>
            <a:endParaRPr lang="en-US" sz="2600" dirty="0"/>
          </a:p>
        </p:txBody>
      </p:sp>
      <p:pic>
        <p:nvPicPr>
          <p:cNvPr id="6" name="Image 0" descr="/home/user/YC-Fall-2026-x-Moss/docs/diagrams/architecture.png">    </p:cNvPr>
          <p:cNvPicPr>
            <a:picLocks noChangeAspect="1"/>
          </p:cNvPicPr>
          <p:nvPr/>
        </p:nvPicPr>
        <p:blipFill>
          <a:blip r:embed="rId1"/>
          <a:stretch>
            <a:fillRect/>
          </a:stretch>
        </p:blipFill>
        <p:spPr>
          <a:xfrm>
            <a:off x="1005840" y="1280160"/>
            <a:ext cx="10149840" cy="5074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34D399"/>
                </a:solidFill>
                <a:latin typeface="Calibri" pitchFamily="34" charset="0"/>
                <a:ea typeface="Calibri" pitchFamily="34" charset="-122"/>
                <a:cs typeface="Calibri" pitchFamily="34" charset="-120"/>
              </a:rPr>
              <a:t>MOSS IN THE LOOP</a:t>
            </a:r>
            <a:endParaRPr lang="en-US" sz="1000" dirty="0"/>
          </a:p>
        </p:txBody>
      </p:sp>
      <p:sp>
        <p:nvSpPr>
          <p:cNvPr id="5" name="Text 3"/>
          <p:cNvSpPr txBox="1"/>
          <p:nvPr/>
        </p:nvSpPr>
        <p:spPr>
          <a:xfrm>
            <a:off x="548640" y="411480"/>
            <a:ext cx="11064240" cy="914400"/>
          </a:xfrm>
          <a:prstGeom prst="rect">
            <a:avLst/>
          </a:prstGeom>
          <a:noFill/>
          <a:ln/>
        </p:spPr>
        <p:txBody>
          <a:bodyPr wrap="square" lIns="0" tIns="0" rIns="0" bIns="0" rtlCol="0" anchor="t"/>
          <a:lstStyle/>
          <a:p>
            <a:pPr indent="0" marL="0">
              <a:buNone/>
            </a:pPr>
            <a:r>
              <a:rPr lang="en-US" sz="3200" dirty="0">
                <a:solidFill>
                  <a:srgbClr val="E8EBF3"/>
                </a:solidFill>
                <a:latin typeface="Cambria" pitchFamily="34" charset="0"/>
                <a:ea typeface="Cambria" pitchFamily="34" charset="-122"/>
                <a:cs typeface="Cambria" pitchFamily="34" charset="-120"/>
              </a:rPr>
              <a:t>Four ways the retrieval layer does real work here.</a:t>
            </a:r>
            <a:endParaRPr lang="en-US" sz="3200" dirty="0"/>
          </a:p>
        </p:txBody>
      </p:sp>
      <p:sp>
        <p:nvSpPr>
          <p:cNvPr id="6" name="Shape 4"/>
          <p:cNvSpPr/>
          <p:nvPr/>
        </p:nvSpPr>
        <p:spPr>
          <a:xfrm>
            <a:off x="548640" y="1600200"/>
            <a:ext cx="5440680" cy="2148840"/>
          </a:xfrm>
          <a:prstGeom prst="roundRect">
            <a:avLst>
              <a:gd name="adj" fmla="val 5957"/>
            </a:avLst>
          </a:prstGeom>
          <a:solidFill>
            <a:srgbClr val="0F1523"/>
          </a:solidFill>
          <a:ln w="9525">
            <a:solidFill>
              <a:srgbClr val="26304A"/>
            </a:solidFill>
            <a:prstDash val="solid"/>
          </a:ln>
        </p:spPr>
      </p:sp>
      <p:sp>
        <p:nvSpPr>
          <p:cNvPr id="7" name="Shape 5"/>
          <p:cNvSpPr/>
          <p:nvPr/>
        </p:nvSpPr>
        <p:spPr>
          <a:xfrm>
            <a:off x="777240" y="1874520"/>
            <a:ext cx="475488" cy="475488"/>
          </a:xfrm>
          <a:prstGeom prst="ellipse">
            <a:avLst/>
          </a:prstGeom>
          <a:solidFill>
            <a:srgbClr val="151C2E"/>
          </a:solidFill>
          <a:ln w="6350">
            <a:solidFill>
              <a:srgbClr val="26304A"/>
            </a:solidFill>
            <a:prstDash val="solid"/>
          </a:ln>
        </p:spPr>
      </p:sp>
      <p:pic>
        <p:nvPicPr>
          <p:cNvPr id="8" name="Image 0" descr="preencoded.png">    </p:cNvPr>
          <p:cNvPicPr>
            <a:picLocks noChangeAspect="1"/>
          </p:cNvPicPr>
          <p:nvPr/>
        </p:nvPicPr>
        <p:blipFill>
          <a:blip r:embed="rId1"/>
          <a:stretch>
            <a:fillRect/>
          </a:stretch>
        </p:blipFill>
        <p:spPr>
          <a:xfrm>
            <a:off x="891357" y="1988637"/>
            <a:ext cx="247254" cy="247254"/>
          </a:xfrm>
          <a:prstGeom prst="rect">
            <a:avLst/>
          </a:prstGeom>
        </p:spPr>
      </p:pic>
      <p:sp>
        <p:nvSpPr>
          <p:cNvPr id="9" name="Text 6"/>
          <p:cNvSpPr txBox="1"/>
          <p:nvPr/>
        </p:nvSpPr>
        <p:spPr>
          <a:xfrm>
            <a:off x="1417320" y="1874520"/>
            <a:ext cx="4389120" cy="457200"/>
          </a:xfrm>
          <a:prstGeom prst="rect">
            <a:avLst/>
          </a:prstGeom>
          <a:noFill/>
          <a:ln/>
        </p:spPr>
        <p:txBody>
          <a:bodyPr wrap="square" lIns="0" tIns="0" rIns="0" bIns="0" rtlCol="0" anchor="ctr"/>
          <a:lstStyle/>
          <a:p>
            <a:pPr indent="0" marL="0">
              <a:buNone/>
            </a:pPr>
            <a:r>
              <a:rPr lang="en-US" sz="1600" b="1" dirty="0">
                <a:solidFill>
                  <a:srgbClr val="E8EBF3"/>
                </a:solidFill>
                <a:latin typeface="Calibri" pitchFamily="34" charset="0"/>
                <a:ea typeface="Calibri" pitchFamily="34" charset="-122"/>
                <a:cs typeface="Calibri" pitchFamily="34" charset="-120"/>
              </a:rPr>
              <a:t>Loaded index, in-process query</a:t>
            </a:r>
            <a:endParaRPr lang="en-US" sz="1600" dirty="0"/>
          </a:p>
        </p:txBody>
      </p:sp>
      <p:sp>
        <p:nvSpPr>
          <p:cNvPr id="10" name="Text 7"/>
          <p:cNvSpPr txBox="1"/>
          <p:nvPr/>
        </p:nvSpPr>
        <p:spPr>
          <a:xfrm>
            <a:off x="777240" y="2468880"/>
            <a:ext cx="4983480" cy="118872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raksha-playbook (409 lines) loaded at boot. Every fragment embedded and searched locally via queryMultiIndex (raw cosine, calibrated). The entire hot path ≈ 10 ms, unmetered.</a:t>
            </a:r>
            <a:endParaRPr lang="en-US" sz="1250" dirty="0"/>
          </a:p>
        </p:txBody>
      </p:sp>
      <p:sp>
        <p:nvSpPr>
          <p:cNvPr id="11" name="Shape 8"/>
          <p:cNvSpPr/>
          <p:nvPr/>
        </p:nvSpPr>
        <p:spPr>
          <a:xfrm>
            <a:off x="6172200" y="1600200"/>
            <a:ext cx="5440680" cy="2148840"/>
          </a:xfrm>
          <a:prstGeom prst="roundRect">
            <a:avLst>
              <a:gd name="adj" fmla="val 5957"/>
            </a:avLst>
          </a:prstGeom>
          <a:solidFill>
            <a:srgbClr val="0F1523"/>
          </a:solidFill>
          <a:ln w="9525">
            <a:solidFill>
              <a:srgbClr val="26304A"/>
            </a:solidFill>
            <a:prstDash val="solid"/>
          </a:ln>
        </p:spPr>
      </p:sp>
      <p:sp>
        <p:nvSpPr>
          <p:cNvPr id="12" name="Shape 9"/>
          <p:cNvSpPr/>
          <p:nvPr/>
        </p:nvSpPr>
        <p:spPr>
          <a:xfrm>
            <a:off x="6400800" y="1874520"/>
            <a:ext cx="475488" cy="475488"/>
          </a:xfrm>
          <a:prstGeom prst="ellipse">
            <a:avLst/>
          </a:prstGeom>
          <a:solidFill>
            <a:srgbClr val="151C2E"/>
          </a:solidFill>
          <a:ln w="6350">
            <a:solidFill>
              <a:srgbClr val="26304A"/>
            </a:solidFill>
            <a:prstDash val="solid"/>
          </a:ln>
        </p:spPr>
      </p:sp>
      <p:pic>
        <p:nvPicPr>
          <p:cNvPr id="13" name="Image 1" descr="preencoded.png">    </p:cNvPr>
          <p:cNvPicPr>
            <a:picLocks noChangeAspect="1"/>
          </p:cNvPicPr>
          <p:nvPr/>
        </p:nvPicPr>
        <p:blipFill>
          <a:blip r:embed="rId2"/>
          <a:stretch>
            <a:fillRect/>
          </a:stretch>
        </p:blipFill>
        <p:spPr>
          <a:xfrm>
            <a:off x="6514917" y="1988637"/>
            <a:ext cx="247254" cy="247254"/>
          </a:xfrm>
          <a:prstGeom prst="rect">
            <a:avLst/>
          </a:prstGeom>
        </p:spPr>
      </p:pic>
      <p:sp>
        <p:nvSpPr>
          <p:cNvPr id="14" name="Text 10"/>
          <p:cNvSpPr txBox="1"/>
          <p:nvPr/>
        </p:nvSpPr>
        <p:spPr>
          <a:xfrm>
            <a:off x="7040880" y="1874520"/>
            <a:ext cx="4389120" cy="457200"/>
          </a:xfrm>
          <a:prstGeom prst="rect">
            <a:avLst/>
          </a:prstGeom>
          <a:noFill/>
          <a:ln/>
        </p:spPr>
        <p:txBody>
          <a:bodyPr wrap="square" lIns="0" tIns="0" rIns="0" bIns="0" rtlCol="0" anchor="ctr"/>
          <a:lstStyle/>
          <a:p>
            <a:pPr indent="0" marL="0">
              <a:buNone/>
            </a:pPr>
            <a:r>
              <a:rPr lang="en-US" sz="1600" b="1" dirty="0">
                <a:solidFill>
                  <a:srgbClr val="E8EBF3"/>
                </a:solidFill>
                <a:latin typeface="Calibri" pitchFamily="34" charset="0"/>
                <a:ea typeface="Calibri" pitchFamily="34" charset="-122"/>
                <a:cs typeface="Calibri" pitchFamily="34" charset="-120"/>
              </a:rPr>
              <a:t>A session per call</a:t>
            </a:r>
            <a:endParaRPr lang="en-US" sz="1600" dirty="0"/>
          </a:p>
        </p:txBody>
      </p:sp>
      <p:sp>
        <p:nvSpPr>
          <p:cNvPr id="15" name="Text 11"/>
          <p:cNvSpPr txBox="1"/>
          <p:nvPr/>
        </p:nvSpPr>
        <p:spPr>
          <a:xfrm>
            <a:off x="6400800" y="2468880"/>
            <a:ext cx="4983480" cy="118872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client.session() opens a local index of the call's own turns. The guardian's “what did they ask for?” is a semantic query over it. Never pushed — memory dies with the call.</a:t>
            </a:r>
            <a:endParaRPr lang="en-US" sz="1250" dirty="0"/>
          </a:p>
        </p:txBody>
      </p:sp>
      <p:sp>
        <p:nvSpPr>
          <p:cNvPr id="16" name="Shape 12"/>
          <p:cNvSpPr/>
          <p:nvPr/>
        </p:nvSpPr>
        <p:spPr>
          <a:xfrm>
            <a:off x="548640" y="3931920"/>
            <a:ext cx="5440680" cy="2148840"/>
          </a:xfrm>
          <a:prstGeom prst="roundRect">
            <a:avLst>
              <a:gd name="adj" fmla="val 5957"/>
            </a:avLst>
          </a:prstGeom>
          <a:solidFill>
            <a:srgbClr val="0F1523"/>
          </a:solidFill>
          <a:ln w="9525">
            <a:solidFill>
              <a:srgbClr val="26304A"/>
            </a:solidFill>
            <a:prstDash val="solid"/>
          </a:ln>
        </p:spPr>
      </p:sp>
      <p:sp>
        <p:nvSpPr>
          <p:cNvPr id="17" name="Shape 13"/>
          <p:cNvSpPr/>
          <p:nvPr/>
        </p:nvSpPr>
        <p:spPr>
          <a:xfrm>
            <a:off x="777240" y="4206240"/>
            <a:ext cx="475488" cy="475488"/>
          </a:xfrm>
          <a:prstGeom prst="ellipse">
            <a:avLst/>
          </a:prstGeom>
          <a:solidFill>
            <a:srgbClr val="151C2E"/>
          </a:solidFill>
          <a:ln w="6350">
            <a:solidFill>
              <a:srgbClr val="26304A"/>
            </a:solidFill>
            <a:prstDash val="solid"/>
          </a:ln>
        </p:spPr>
      </p:sp>
      <p:pic>
        <p:nvPicPr>
          <p:cNvPr id="18" name="Image 2" descr="preencoded.png">    </p:cNvPr>
          <p:cNvPicPr>
            <a:picLocks noChangeAspect="1"/>
          </p:cNvPicPr>
          <p:nvPr/>
        </p:nvPicPr>
        <p:blipFill>
          <a:blip r:embed="rId3"/>
          <a:stretch>
            <a:fillRect/>
          </a:stretch>
        </p:blipFill>
        <p:spPr>
          <a:xfrm>
            <a:off x="891357" y="4320357"/>
            <a:ext cx="247254" cy="247254"/>
          </a:xfrm>
          <a:prstGeom prst="rect">
            <a:avLst/>
          </a:prstGeom>
        </p:spPr>
      </p:pic>
      <p:sp>
        <p:nvSpPr>
          <p:cNvPr id="19" name="Text 14"/>
          <p:cNvSpPr txBox="1"/>
          <p:nvPr/>
        </p:nvSpPr>
        <p:spPr>
          <a:xfrm>
            <a:off x="1417320" y="4206240"/>
            <a:ext cx="4389120" cy="457200"/>
          </a:xfrm>
          <a:prstGeom prst="rect">
            <a:avLst/>
          </a:prstGeom>
          <a:noFill/>
          <a:ln/>
        </p:spPr>
        <p:txBody>
          <a:bodyPr wrap="square" lIns="0" tIns="0" rIns="0" bIns="0" rtlCol="0" anchor="ctr"/>
          <a:lstStyle/>
          <a:p>
            <a:pPr indent="0" marL="0">
              <a:buNone/>
            </a:pPr>
            <a:r>
              <a:rPr lang="en-US" sz="1600" b="1" dirty="0">
                <a:solidFill>
                  <a:srgbClr val="E8EBF3"/>
                </a:solidFill>
                <a:latin typeface="Calibri" pitchFamily="34" charset="0"/>
                <a:ea typeface="Calibri" pitchFamily="34" charset="-122"/>
                <a:cs typeface="Calibri" pitchFamily="34" charset="-120"/>
              </a:rPr>
              <a:t>Auto-refresh hot-swap</a:t>
            </a:r>
            <a:endParaRPr lang="en-US" sz="1600" dirty="0"/>
          </a:p>
        </p:txBody>
      </p:sp>
      <p:sp>
        <p:nvSpPr>
          <p:cNvPr id="20" name="Text 15"/>
          <p:cNvSpPr txBox="1"/>
          <p:nvPr/>
        </p:nvSpPr>
        <p:spPr>
          <a:xfrm>
            <a:off x="777240" y="4800600"/>
            <a:ext cx="4983480" cy="118872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Reported caller lines are upserted into raksha-intel. Every running shield polls and hot-swaps the new version in with zero query downtime. No redeploy.</a:t>
            </a:r>
            <a:endParaRPr lang="en-US" sz="1250" dirty="0"/>
          </a:p>
        </p:txBody>
      </p:sp>
      <p:sp>
        <p:nvSpPr>
          <p:cNvPr id="21" name="Shape 16"/>
          <p:cNvSpPr/>
          <p:nvPr/>
        </p:nvSpPr>
        <p:spPr>
          <a:xfrm>
            <a:off x="6172200" y="3931920"/>
            <a:ext cx="5440680" cy="2148840"/>
          </a:xfrm>
          <a:prstGeom prst="roundRect">
            <a:avLst>
              <a:gd name="adj" fmla="val 5957"/>
            </a:avLst>
          </a:prstGeom>
          <a:solidFill>
            <a:srgbClr val="0F1523"/>
          </a:solidFill>
          <a:ln w="9525">
            <a:solidFill>
              <a:srgbClr val="26304A"/>
            </a:solidFill>
            <a:prstDash val="solid"/>
          </a:ln>
        </p:spPr>
      </p:sp>
      <p:sp>
        <p:nvSpPr>
          <p:cNvPr id="22" name="Shape 17"/>
          <p:cNvSpPr/>
          <p:nvPr/>
        </p:nvSpPr>
        <p:spPr>
          <a:xfrm>
            <a:off x="6400800" y="4206240"/>
            <a:ext cx="475488" cy="475488"/>
          </a:xfrm>
          <a:prstGeom prst="ellipse">
            <a:avLst/>
          </a:prstGeom>
          <a:solidFill>
            <a:srgbClr val="151C2E"/>
          </a:solidFill>
          <a:ln w="6350">
            <a:solidFill>
              <a:srgbClr val="26304A"/>
            </a:solidFill>
            <a:prstDash val="solid"/>
          </a:ln>
        </p:spPr>
      </p:sp>
      <p:pic>
        <p:nvPicPr>
          <p:cNvPr id="23" name="Image 3" descr="preencoded.png">    </p:cNvPr>
          <p:cNvPicPr>
            <a:picLocks noChangeAspect="1"/>
          </p:cNvPicPr>
          <p:nvPr/>
        </p:nvPicPr>
        <p:blipFill>
          <a:blip r:embed="rId4"/>
          <a:stretch>
            <a:fillRect/>
          </a:stretch>
        </p:blipFill>
        <p:spPr>
          <a:xfrm>
            <a:off x="6514917" y="4320357"/>
            <a:ext cx="247254" cy="247254"/>
          </a:xfrm>
          <a:prstGeom prst="rect">
            <a:avLst/>
          </a:prstGeom>
        </p:spPr>
      </p:pic>
      <p:sp>
        <p:nvSpPr>
          <p:cNvPr id="24" name="Text 18"/>
          <p:cNvSpPr txBox="1"/>
          <p:nvPr/>
        </p:nvSpPr>
        <p:spPr>
          <a:xfrm>
            <a:off x="7040880" y="4206240"/>
            <a:ext cx="4389120" cy="457200"/>
          </a:xfrm>
          <a:prstGeom prst="rect">
            <a:avLst/>
          </a:prstGeom>
          <a:noFill/>
          <a:ln/>
        </p:spPr>
        <p:txBody>
          <a:bodyPr wrap="square" lIns="0" tIns="0" rIns="0" bIns="0" rtlCol="0" anchor="ctr"/>
          <a:lstStyle/>
          <a:p>
            <a:pPr indent="0" marL="0">
              <a:buNone/>
            </a:pPr>
            <a:r>
              <a:rPr lang="en-US" sz="1600" b="1" dirty="0">
                <a:solidFill>
                  <a:srgbClr val="E8EBF3"/>
                </a:solidFill>
                <a:latin typeface="Calibri" pitchFamily="34" charset="0"/>
                <a:ea typeface="Calibri" pitchFamily="34" charset="-122"/>
                <a:cs typeface="Calibri" pitchFamily="34" charset="-120"/>
              </a:rPr>
              <a:t>Multi-index, one top-K</a:t>
            </a:r>
            <a:endParaRPr lang="en-US" sz="1600" dirty="0"/>
          </a:p>
        </p:txBody>
      </p:sp>
      <p:sp>
        <p:nvSpPr>
          <p:cNvPr id="25" name="Text 19"/>
          <p:cNvSpPr txBox="1"/>
          <p:nvPr/>
        </p:nvSpPr>
        <p:spPr>
          <a:xfrm>
            <a:off x="6400800" y="4800600"/>
            <a:ext cx="4983480" cy="1188720"/>
          </a:xfrm>
          <a:prstGeom prst="rect">
            <a:avLst/>
          </a:prstGeom>
          <a:noFill/>
          <a:ln/>
        </p:spPr>
        <p:txBody>
          <a:bodyPr wrap="square" lIns="0" tIns="0" rIns="0" bIns="0" rtlCol="0" anchor="ctr"/>
          <a:lstStyle/>
          <a:p>
            <a:pPr indent="0" marL="0">
              <a:buNone/>
            </a:pPr>
            <a:r>
              <a:rPr lang="en-US" sz="1250" dirty="0">
                <a:solidFill>
                  <a:srgbClr val="8F97AD"/>
                </a:solidFill>
                <a:latin typeface="Calibri" pitchFamily="34" charset="0"/>
                <a:ea typeface="Calibri" pitchFamily="34" charset="-122"/>
                <a:cs typeface="Calibri" pitchFamily="34" charset="-120"/>
              </a:rPr>
              <a:t>queryMultiIndex searches the curated playbook and community intel together. Metadata (family, tactics, severity, kind, stage) lets the engine reason over tactics, not text.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34D399"/>
                </a:solidFill>
                <a:latin typeface="Calibri" pitchFamily="34" charset="0"/>
                <a:ea typeface="Calibri" pitchFamily="34" charset="-122"/>
                <a:cs typeface="Calibri" pitchFamily="34" charset="-120"/>
              </a:rPr>
              <a:t>SPEED &amp; LATENCY</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400" dirty="0">
                <a:solidFill>
                  <a:srgbClr val="E8EBF3"/>
                </a:solidFill>
                <a:latin typeface="Cambria" pitchFamily="34" charset="0"/>
                <a:ea typeface="Cambria" pitchFamily="34" charset="-122"/>
                <a:cs typeface="Cambria" pitchFamily="34" charset="-120"/>
              </a:rPr>
              <a:t>A scam is won or lost inside one sentence.</a:t>
            </a:r>
            <a:endParaRPr lang="en-US" sz="3400" dirty="0"/>
          </a:p>
        </p:txBody>
      </p:sp>
      <p:sp>
        <p:nvSpPr>
          <p:cNvPr id="6" name="Text 4"/>
          <p:cNvSpPr txBox="1"/>
          <p:nvPr/>
        </p:nvSpPr>
        <p:spPr>
          <a:xfrm>
            <a:off x="548640" y="1234440"/>
            <a:ext cx="10972800" cy="457200"/>
          </a:xfrm>
          <a:prstGeom prst="rect">
            <a:avLst/>
          </a:prstGeom>
          <a:noFill/>
          <a:ln/>
        </p:spPr>
        <p:txBody>
          <a:bodyPr wrap="square" lIns="0" tIns="0" rIns="0" bIns="0" rtlCol="0" anchor="ctr"/>
          <a:lstStyle/>
          <a:p>
            <a:pPr indent="0" marL="0">
              <a:buNone/>
            </a:pPr>
            <a:r>
              <a:rPr lang="en-US" sz="1500" dirty="0">
                <a:solidFill>
                  <a:srgbClr val="8F97AD"/>
                </a:solidFill>
                <a:latin typeface="Calibri" pitchFamily="34" charset="0"/>
                <a:ea typeface="Calibri" pitchFamily="34" charset="-122"/>
                <a:cs typeface="Calibri" pitchFamily="34" charset="-120"/>
              </a:rPr>
              <a:t>“Read me the six digits, quickly” takes ~2.5 s to say. How much of that sentence is gone before the shield has an answer?</a:t>
            </a:r>
            <a:endParaRPr lang="en-US" sz="1500" dirty="0"/>
          </a:p>
        </p:txBody>
      </p:sp>
      <p:graphicFrame>
        <p:nvGraphicFramePr>
          <p:cNvPr id="7" name="Chart 0" descr=""/>
          <p:cNvGraphicFramePr/>
          <p:nvPr/>
        </p:nvGraphicFramePr>
        <p:xfrm>
          <a:off x="548640" y="1828800"/>
          <a:ext cx="7132320" cy="4206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55280" y="1828800"/>
            <a:ext cx="3657600" cy="914400"/>
          </a:xfrm>
          <a:prstGeom prst="roundRect">
            <a:avLst>
              <a:gd name="adj" fmla="val 14000"/>
            </a:avLst>
          </a:prstGeom>
          <a:solidFill>
            <a:srgbClr val="0F1523"/>
          </a:solidFill>
          <a:ln w="9525">
            <a:solidFill>
              <a:srgbClr val="26304A"/>
            </a:solidFill>
            <a:prstDash val="solid"/>
          </a:ln>
        </p:spPr>
      </p:sp>
      <p:sp>
        <p:nvSpPr>
          <p:cNvPr id="9" name="Text 6"/>
          <p:cNvSpPr txBox="1"/>
          <p:nvPr/>
        </p:nvSpPr>
        <p:spPr>
          <a:xfrm>
            <a:off x="8138160" y="1828800"/>
            <a:ext cx="1280160" cy="914400"/>
          </a:xfrm>
          <a:prstGeom prst="rect">
            <a:avLst/>
          </a:prstGeom>
          <a:noFill/>
          <a:ln/>
        </p:spPr>
        <p:txBody>
          <a:bodyPr wrap="square" lIns="0" tIns="0" rIns="0" bIns="0" rtlCol="0" anchor="ctr"/>
          <a:lstStyle/>
          <a:p>
            <a:pPr indent="0" marL="0">
              <a:buNone/>
            </a:pPr>
            <a:r>
              <a:rPr lang="en-US" sz="2400" dirty="0">
                <a:solidFill>
                  <a:srgbClr val="6EE7B7"/>
                </a:solidFill>
                <a:latin typeface="Cambria" pitchFamily="34" charset="0"/>
                <a:ea typeface="Cambria" pitchFamily="34" charset="-122"/>
                <a:cs typeface="Cambria" pitchFamily="34" charset="-120"/>
              </a:rPr>
              <a:t>≈ 1%</a:t>
            </a:r>
            <a:endParaRPr lang="en-US" sz="2400" dirty="0"/>
          </a:p>
        </p:txBody>
      </p:sp>
      <p:sp>
        <p:nvSpPr>
          <p:cNvPr id="10" name="Text 7"/>
          <p:cNvSpPr txBox="1"/>
          <p:nvPr/>
        </p:nvSpPr>
        <p:spPr>
          <a:xfrm>
            <a:off x="9418320" y="1828800"/>
            <a:ext cx="2103120" cy="91440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of the sentence consumed by Moss retrieval (p95 ≈ 27 ms measured)</a:t>
            </a:r>
            <a:endParaRPr lang="en-US" sz="1150" dirty="0"/>
          </a:p>
        </p:txBody>
      </p:sp>
      <p:sp>
        <p:nvSpPr>
          <p:cNvPr id="11" name="Shape 8"/>
          <p:cNvSpPr/>
          <p:nvPr/>
        </p:nvSpPr>
        <p:spPr>
          <a:xfrm>
            <a:off x="7955280" y="2880360"/>
            <a:ext cx="3657600" cy="914400"/>
          </a:xfrm>
          <a:prstGeom prst="roundRect">
            <a:avLst>
              <a:gd name="adj" fmla="val 14000"/>
            </a:avLst>
          </a:prstGeom>
          <a:solidFill>
            <a:srgbClr val="0F1523"/>
          </a:solidFill>
          <a:ln w="9525">
            <a:solidFill>
              <a:srgbClr val="26304A"/>
            </a:solidFill>
            <a:prstDash val="solid"/>
          </a:ln>
        </p:spPr>
      </p:sp>
      <p:sp>
        <p:nvSpPr>
          <p:cNvPr id="12" name="Text 9"/>
          <p:cNvSpPr txBox="1"/>
          <p:nvPr/>
        </p:nvSpPr>
        <p:spPr>
          <a:xfrm>
            <a:off x="8138160" y="2880360"/>
            <a:ext cx="1280160" cy="914400"/>
          </a:xfrm>
          <a:prstGeom prst="rect">
            <a:avLst/>
          </a:prstGeom>
          <a:noFill/>
          <a:ln/>
        </p:spPr>
        <p:txBody>
          <a:bodyPr wrap="square" lIns="0" tIns="0" rIns="0" bIns="0" rtlCol="0" anchor="ctr"/>
          <a:lstStyle/>
          <a:p>
            <a:pPr indent="0" marL="0">
              <a:buNone/>
            </a:pPr>
            <a:r>
              <a:rPr lang="en-US" sz="2400" dirty="0">
                <a:solidFill>
                  <a:srgbClr val="FFC75F"/>
                </a:solidFill>
                <a:latin typeface="Cambria" pitchFamily="34" charset="0"/>
                <a:ea typeface="Cambria" pitchFamily="34" charset="-122"/>
                <a:cs typeface="Cambria" pitchFamily="34" charset="-120"/>
              </a:rPr>
              <a:t>14%</a:t>
            </a:r>
            <a:endParaRPr lang="en-US" sz="2400" dirty="0"/>
          </a:p>
        </p:txBody>
      </p:sp>
      <p:sp>
        <p:nvSpPr>
          <p:cNvPr id="13" name="Text 10"/>
          <p:cNvSpPr txBox="1"/>
          <p:nvPr/>
        </p:nvSpPr>
        <p:spPr>
          <a:xfrm>
            <a:off x="9418320" y="2880360"/>
            <a:ext cx="2103120" cy="91440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consumed by a 350 ms cloud vector-DB round-trip</a:t>
            </a:r>
            <a:endParaRPr lang="en-US" sz="1150" dirty="0"/>
          </a:p>
        </p:txBody>
      </p:sp>
      <p:sp>
        <p:nvSpPr>
          <p:cNvPr id="14" name="Shape 11"/>
          <p:cNvSpPr/>
          <p:nvPr/>
        </p:nvSpPr>
        <p:spPr>
          <a:xfrm>
            <a:off x="7955280" y="3931920"/>
            <a:ext cx="3657600" cy="914400"/>
          </a:xfrm>
          <a:prstGeom prst="roundRect">
            <a:avLst>
              <a:gd name="adj" fmla="val 14000"/>
            </a:avLst>
          </a:prstGeom>
          <a:solidFill>
            <a:srgbClr val="0F1523"/>
          </a:solidFill>
          <a:ln w="9525">
            <a:solidFill>
              <a:srgbClr val="26304A"/>
            </a:solidFill>
            <a:prstDash val="solid"/>
          </a:ln>
        </p:spPr>
      </p:sp>
      <p:sp>
        <p:nvSpPr>
          <p:cNvPr id="15" name="Text 12"/>
          <p:cNvSpPr txBox="1"/>
          <p:nvPr/>
        </p:nvSpPr>
        <p:spPr>
          <a:xfrm>
            <a:off x="8138160" y="3931920"/>
            <a:ext cx="1280160" cy="914400"/>
          </a:xfrm>
          <a:prstGeom prst="rect">
            <a:avLst/>
          </a:prstGeom>
          <a:noFill/>
          <a:ln/>
        </p:spPr>
        <p:txBody>
          <a:bodyPr wrap="square" lIns="0" tIns="0" rIns="0" bIns="0" rtlCol="0" anchor="ctr"/>
          <a:lstStyle/>
          <a:p>
            <a:pPr indent="0" marL="0">
              <a:buNone/>
            </a:pPr>
            <a:r>
              <a:rPr lang="en-US" sz="2400" dirty="0">
                <a:solidFill>
                  <a:srgbClr val="FFC75F"/>
                </a:solidFill>
                <a:latin typeface="Cambria" pitchFamily="34" charset="0"/>
                <a:ea typeface="Cambria" pitchFamily="34" charset="-122"/>
                <a:cs typeface="Cambria" pitchFamily="34" charset="-120"/>
              </a:rPr>
              <a:t>36%</a:t>
            </a:r>
            <a:endParaRPr lang="en-US" sz="2400" dirty="0"/>
          </a:p>
        </p:txBody>
      </p:sp>
      <p:sp>
        <p:nvSpPr>
          <p:cNvPr id="16" name="Text 13"/>
          <p:cNvSpPr txBox="1"/>
          <p:nvPr/>
        </p:nvSpPr>
        <p:spPr>
          <a:xfrm>
            <a:off x="9418320" y="3931920"/>
            <a:ext cx="2103120" cy="91440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consumed by a 900 ms LLM classifier — the OTP is already out</a:t>
            </a:r>
            <a:endParaRPr lang="en-US" sz="1150" dirty="0"/>
          </a:p>
        </p:txBody>
      </p:sp>
      <p:sp>
        <p:nvSpPr>
          <p:cNvPr id="17" name="Shape 14"/>
          <p:cNvSpPr/>
          <p:nvPr/>
        </p:nvSpPr>
        <p:spPr>
          <a:xfrm>
            <a:off x="7955280" y="4983480"/>
            <a:ext cx="3657600" cy="914400"/>
          </a:xfrm>
          <a:prstGeom prst="roundRect">
            <a:avLst>
              <a:gd name="adj" fmla="val 14000"/>
            </a:avLst>
          </a:prstGeom>
          <a:solidFill>
            <a:srgbClr val="0F1523"/>
          </a:solidFill>
          <a:ln w="9525">
            <a:solidFill>
              <a:srgbClr val="26304A"/>
            </a:solidFill>
            <a:prstDash val="solid"/>
          </a:ln>
        </p:spPr>
      </p:sp>
      <p:sp>
        <p:nvSpPr>
          <p:cNvPr id="18" name="Text 15"/>
          <p:cNvSpPr txBox="1"/>
          <p:nvPr/>
        </p:nvSpPr>
        <p:spPr>
          <a:xfrm>
            <a:off x="8138160" y="4983480"/>
            <a:ext cx="1280160" cy="914400"/>
          </a:xfrm>
          <a:prstGeom prst="rect">
            <a:avLst/>
          </a:prstGeom>
          <a:noFill/>
          <a:ln/>
        </p:spPr>
        <p:txBody>
          <a:bodyPr wrap="square" lIns="0" tIns="0" rIns="0" bIns="0" rtlCol="0" anchor="ctr"/>
          <a:lstStyle/>
          <a:p>
            <a:pPr indent="0" marL="0">
              <a:buNone/>
            </a:pPr>
            <a:r>
              <a:rPr lang="en-US" sz="2400" dirty="0">
                <a:solidFill>
                  <a:srgbClr val="6EE7B7"/>
                </a:solidFill>
                <a:latin typeface="Cambria" pitchFamily="34" charset="0"/>
                <a:ea typeface="Cambria" pitchFamily="34" charset="-122"/>
                <a:cs typeface="Cambria" pitchFamily="34" charset="-120"/>
              </a:rPr>
              <a:t>₹0</a:t>
            </a:r>
            <a:endParaRPr lang="en-US" sz="2400" dirty="0"/>
          </a:p>
        </p:txBody>
      </p:sp>
      <p:sp>
        <p:nvSpPr>
          <p:cNvPr id="19" name="Text 16"/>
          <p:cNvSpPr txBox="1"/>
          <p:nvPr/>
        </p:nvSpPr>
        <p:spPr>
          <a:xfrm>
            <a:off x="9418320" y="4983480"/>
            <a:ext cx="2103120" cy="91440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marginal cost per fragment: local Moss queries are unmetered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THE CIRCLE OF TRUST</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400" dirty="0">
                <a:solidFill>
                  <a:srgbClr val="E8EBF3"/>
                </a:solidFill>
                <a:latin typeface="Cambria" pitchFamily="34" charset="0"/>
                <a:ea typeface="Cambria" pitchFamily="34" charset="-122"/>
                <a:cs typeface="Cambria" pitchFamily="34" charset="-120"/>
              </a:rPr>
              <a:t>Scams isolate. Raksha breaks the isolation.</a:t>
            </a:r>
            <a:endParaRPr lang="en-US" sz="3400" dirty="0"/>
          </a:p>
        </p:txBody>
      </p:sp>
      <p:pic>
        <p:nvPicPr>
          <p:cNvPr id="6" name="Image 0" descr="/home/user/YC-Fall-2026-x-Moss/docs/deck/assets/guardian-crop.png">    </p:cNvPr>
          <p:cNvPicPr>
            <a:picLocks noChangeAspect="1"/>
          </p:cNvPicPr>
          <p:nvPr/>
        </p:nvPicPr>
        <p:blipFill>
          <a:blip r:embed="rId1"/>
          <a:stretch>
            <a:fillRect/>
          </a:stretch>
        </p:blipFill>
        <p:spPr>
          <a:xfrm>
            <a:off x="4937760" y="1417320"/>
            <a:ext cx="6675120" cy="4636008"/>
          </a:xfrm>
          <a:prstGeom prst="ellipse">
            <a:avLst/>
          </a:prstGeom>
        </p:spPr>
      </p:pic>
      <p:sp>
        <p:nvSpPr>
          <p:cNvPr id="7" name="Shape 4"/>
          <p:cNvSpPr/>
          <p:nvPr/>
        </p:nvSpPr>
        <p:spPr>
          <a:xfrm>
            <a:off x="548640" y="1463040"/>
            <a:ext cx="420624" cy="420624"/>
          </a:xfrm>
          <a:prstGeom prst="ellipse">
            <a:avLst/>
          </a:prstGeom>
          <a:solidFill>
            <a:srgbClr val="151C2E"/>
          </a:solidFill>
          <a:ln w="6350">
            <a:solidFill>
              <a:srgbClr val="26304A"/>
            </a:solidFill>
            <a:prstDash val="solid"/>
          </a:ln>
        </p:spPr>
      </p:sp>
      <p:pic>
        <p:nvPicPr>
          <p:cNvPr id="8" name="Image 1" descr="preencoded.png">    </p:cNvPr>
          <p:cNvPicPr>
            <a:picLocks noChangeAspect="1"/>
          </p:cNvPicPr>
          <p:nvPr/>
        </p:nvPicPr>
        <p:blipFill>
          <a:blip r:embed="rId2"/>
          <a:stretch>
            <a:fillRect/>
          </a:stretch>
        </p:blipFill>
        <p:spPr>
          <a:xfrm>
            <a:off x="649590" y="1563990"/>
            <a:ext cx="218724" cy="218724"/>
          </a:xfrm>
          <a:prstGeom prst="rect">
            <a:avLst/>
          </a:prstGeom>
        </p:spPr>
      </p:pic>
      <p:sp>
        <p:nvSpPr>
          <p:cNvPr id="9" name="Text 5"/>
          <p:cNvSpPr txBox="1"/>
          <p:nvPr/>
        </p:nvSpPr>
        <p:spPr>
          <a:xfrm>
            <a:off x="1097280" y="1435608"/>
            <a:ext cx="3657600" cy="365760"/>
          </a:xfrm>
          <a:prstGeom prst="rect">
            <a:avLst/>
          </a:prstGeom>
          <a:noFill/>
          <a:ln/>
        </p:spPr>
        <p:txBody>
          <a:bodyPr wrap="square" lIns="0" tIns="0" rIns="0" bIns="0" rtlCol="0" anchor="ctr"/>
          <a:lstStyle/>
          <a:p>
            <a:pPr indent="0" marL="0">
              <a:buNone/>
            </a:pPr>
            <a:r>
              <a:rPr lang="en-US" sz="1450" b="1" dirty="0">
                <a:solidFill>
                  <a:srgbClr val="E8EBF3"/>
                </a:solidFill>
                <a:latin typeface="Calibri" pitchFamily="34" charset="0"/>
                <a:ea typeface="Calibri" pitchFamily="34" charset="-122"/>
                <a:cs typeface="Calibri" pitchFamily="34" charset="-120"/>
              </a:rPr>
              <a:t>A family code, no accounts</a:t>
            </a:r>
            <a:endParaRPr lang="en-US" sz="1450" dirty="0"/>
          </a:p>
        </p:txBody>
      </p:sp>
      <p:sp>
        <p:nvSpPr>
          <p:cNvPr id="10" name="Text 6"/>
          <p:cNvSpPr txBox="1"/>
          <p:nvPr/>
        </p:nvSpPr>
        <p:spPr>
          <a:xfrm>
            <a:off x="1097280" y="1810512"/>
            <a:ext cx="3657600" cy="777240"/>
          </a:xfrm>
          <a:prstGeom prst="rect">
            <a:avLst/>
          </a:prstGeom>
          <a:noFill/>
          <a:ln/>
        </p:spPr>
        <p:txBody>
          <a:bodyPr wrap="square" lIns="0" tIns="0" rIns="0" bIns="0" rtlCol="0" anchor="ctr"/>
          <a:lstStyle/>
          <a:p>
            <a:pPr indent="0" marL="0">
              <a:buNone/>
            </a:pPr>
            <a:r>
              <a:rPr lang="en-US" sz="1200" dirty="0">
                <a:solidFill>
                  <a:srgbClr val="8F97AD"/>
                </a:solidFill>
                <a:latin typeface="Calibri" pitchFamily="34" charset="0"/>
                <a:ea typeface="Calibri" pitchFamily="34" charset="-122"/>
                <a:cs typeface="Calibri" pitchFamily="34" charset="-120"/>
              </a:rPr>
              <a:t>Links a parent's phone to a daughter's dashboard. Risk, transcript highlights and interventions, live.</a:t>
            </a:r>
            <a:endParaRPr lang="en-US" sz="1200" dirty="0"/>
          </a:p>
        </p:txBody>
      </p:sp>
      <p:sp>
        <p:nvSpPr>
          <p:cNvPr id="11" name="Shape 7"/>
          <p:cNvSpPr/>
          <p:nvPr/>
        </p:nvSpPr>
        <p:spPr>
          <a:xfrm>
            <a:off x="548640" y="2633472"/>
            <a:ext cx="420624" cy="420624"/>
          </a:xfrm>
          <a:prstGeom prst="ellipse">
            <a:avLst/>
          </a:prstGeom>
          <a:solidFill>
            <a:srgbClr val="151C2E"/>
          </a:solidFill>
          <a:ln w="6350">
            <a:solidFill>
              <a:srgbClr val="26304A"/>
            </a:solidFill>
            <a:prstDash val="solid"/>
          </a:ln>
        </p:spPr>
      </p:sp>
      <p:pic>
        <p:nvPicPr>
          <p:cNvPr id="12" name="Image 2" descr="preencoded.png">    </p:cNvPr>
          <p:cNvPicPr>
            <a:picLocks noChangeAspect="1"/>
          </p:cNvPicPr>
          <p:nvPr/>
        </p:nvPicPr>
        <p:blipFill>
          <a:blip r:embed="rId3"/>
          <a:stretch>
            <a:fillRect/>
          </a:stretch>
        </p:blipFill>
        <p:spPr>
          <a:xfrm>
            <a:off x="649590" y="2734422"/>
            <a:ext cx="218724" cy="218724"/>
          </a:xfrm>
          <a:prstGeom prst="rect">
            <a:avLst/>
          </a:prstGeom>
        </p:spPr>
      </p:pic>
      <p:sp>
        <p:nvSpPr>
          <p:cNvPr id="13" name="Text 8"/>
          <p:cNvSpPr txBox="1"/>
          <p:nvPr/>
        </p:nvSpPr>
        <p:spPr>
          <a:xfrm>
            <a:off x="1097280" y="2606040"/>
            <a:ext cx="3657600" cy="365760"/>
          </a:xfrm>
          <a:prstGeom prst="rect">
            <a:avLst/>
          </a:prstGeom>
          <a:noFill/>
          <a:ln/>
        </p:spPr>
        <p:txBody>
          <a:bodyPr wrap="square" lIns="0" tIns="0" rIns="0" bIns="0" rtlCol="0" anchor="ctr"/>
          <a:lstStyle/>
          <a:p>
            <a:pPr indent="0" marL="0">
              <a:buNone/>
            </a:pPr>
            <a:r>
              <a:rPr lang="en-US" sz="1450" b="1" dirty="0">
                <a:solidFill>
                  <a:srgbClr val="E8EBF3"/>
                </a:solidFill>
                <a:latin typeface="Calibri" pitchFamily="34" charset="0"/>
                <a:ea typeface="Calibri" pitchFamily="34" charset="-122"/>
                <a:cs typeface="Calibri" pitchFamily="34" charset="-120"/>
              </a:rPr>
              <a:t>Speak through the shield</a:t>
            </a:r>
            <a:endParaRPr lang="en-US" sz="1450" dirty="0"/>
          </a:p>
        </p:txBody>
      </p:sp>
      <p:sp>
        <p:nvSpPr>
          <p:cNvPr id="14" name="Text 9"/>
          <p:cNvSpPr txBox="1"/>
          <p:nvPr/>
        </p:nvSpPr>
        <p:spPr>
          <a:xfrm>
            <a:off x="1097280" y="2980944"/>
            <a:ext cx="3657600" cy="777240"/>
          </a:xfrm>
          <a:prstGeom prst="rect">
            <a:avLst/>
          </a:prstGeom>
          <a:noFill/>
          <a:ln/>
        </p:spPr>
        <p:txBody>
          <a:bodyPr wrap="square" lIns="0" tIns="0" rIns="0" bIns="0" rtlCol="0" anchor="ctr"/>
          <a:lstStyle/>
          <a:p>
            <a:pPr indent="0" marL="0">
              <a:buNone/>
            </a:pPr>
            <a:r>
              <a:rPr lang="en-US" sz="1200" dirty="0">
                <a:solidFill>
                  <a:srgbClr val="8F97AD"/>
                </a:solidFill>
                <a:latin typeface="Calibri" pitchFamily="34" charset="0"/>
                <a:ea typeface="Calibri" pitchFamily="34" charset="-122"/>
                <a:cs typeface="Calibri" pitchFamily="34" charset="-120"/>
              </a:rPr>
              <a:t>Her words are shown and read aloud on the phone — over the scammer's voice.</a:t>
            </a:r>
            <a:endParaRPr lang="en-US" sz="1200" dirty="0"/>
          </a:p>
        </p:txBody>
      </p:sp>
      <p:sp>
        <p:nvSpPr>
          <p:cNvPr id="15" name="Shape 10"/>
          <p:cNvSpPr/>
          <p:nvPr/>
        </p:nvSpPr>
        <p:spPr>
          <a:xfrm>
            <a:off x="548640" y="3803904"/>
            <a:ext cx="420624" cy="420624"/>
          </a:xfrm>
          <a:prstGeom prst="ellipse">
            <a:avLst/>
          </a:prstGeom>
          <a:solidFill>
            <a:srgbClr val="151C2E"/>
          </a:solidFill>
          <a:ln w="6350">
            <a:solidFill>
              <a:srgbClr val="26304A"/>
            </a:solidFill>
            <a:prstDash val="solid"/>
          </a:ln>
        </p:spPr>
      </p:sp>
      <p:pic>
        <p:nvPicPr>
          <p:cNvPr id="16" name="Image 3" descr="preencoded.png">    </p:cNvPr>
          <p:cNvPicPr>
            <a:picLocks noChangeAspect="1"/>
          </p:cNvPicPr>
          <p:nvPr/>
        </p:nvPicPr>
        <p:blipFill>
          <a:blip r:embed="rId4"/>
          <a:stretch>
            <a:fillRect/>
          </a:stretch>
        </p:blipFill>
        <p:spPr>
          <a:xfrm>
            <a:off x="649590" y="3904854"/>
            <a:ext cx="218724" cy="218724"/>
          </a:xfrm>
          <a:prstGeom prst="rect">
            <a:avLst/>
          </a:prstGeom>
        </p:spPr>
      </p:pic>
      <p:sp>
        <p:nvSpPr>
          <p:cNvPr id="17" name="Text 11"/>
          <p:cNvSpPr txBox="1"/>
          <p:nvPr/>
        </p:nvSpPr>
        <p:spPr>
          <a:xfrm>
            <a:off x="1097280" y="3776472"/>
            <a:ext cx="3657600" cy="365760"/>
          </a:xfrm>
          <a:prstGeom prst="rect">
            <a:avLst/>
          </a:prstGeom>
          <a:noFill/>
          <a:ln/>
        </p:spPr>
        <p:txBody>
          <a:bodyPr wrap="square" lIns="0" tIns="0" rIns="0" bIns="0" rtlCol="0" anchor="ctr"/>
          <a:lstStyle/>
          <a:p>
            <a:pPr indent="0" marL="0">
              <a:buNone/>
            </a:pPr>
            <a:r>
              <a:rPr lang="en-US" sz="1450" b="1" dirty="0">
                <a:solidFill>
                  <a:srgbClr val="E8EBF3"/>
                </a:solidFill>
                <a:latin typeface="Calibri" pitchFamily="34" charset="0"/>
                <a:ea typeface="Calibri" pitchFamily="34" charset="-122"/>
                <a:cs typeface="Calibri" pitchFamily="34" charset="-120"/>
              </a:rPr>
              <a:t>Ask the call</a:t>
            </a:r>
            <a:endParaRPr lang="en-US" sz="1450" dirty="0"/>
          </a:p>
        </p:txBody>
      </p:sp>
      <p:sp>
        <p:nvSpPr>
          <p:cNvPr id="18" name="Text 12"/>
          <p:cNvSpPr txBox="1"/>
          <p:nvPr/>
        </p:nvSpPr>
        <p:spPr>
          <a:xfrm>
            <a:off x="1097280" y="4151376"/>
            <a:ext cx="3657600" cy="777240"/>
          </a:xfrm>
          <a:prstGeom prst="rect">
            <a:avLst/>
          </a:prstGeom>
          <a:noFill/>
          <a:ln/>
        </p:spPr>
        <p:txBody>
          <a:bodyPr wrap="square" lIns="0" tIns="0" rIns="0" bIns="0" rtlCol="0" anchor="ctr"/>
          <a:lstStyle/>
          <a:p>
            <a:pPr indent="0" marL="0">
              <a:buNone/>
            </a:pPr>
            <a:r>
              <a:rPr lang="en-US" sz="1200" dirty="0">
                <a:solidFill>
                  <a:srgbClr val="8F97AD"/>
                </a:solidFill>
                <a:latin typeface="Calibri" pitchFamily="34" charset="0"/>
                <a:ea typeface="Calibri" pitchFamily="34" charset="-122"/>
                <a:cs typeface="Calibri" pitchFamily="34" charset="-120"/>
              </a:rPr>
              <a:t>“What money did they ask for?” — answered from the call's Moss session in milliseconds.</a:t>
            </a:r>
            <a:endParaRPr lang="en-US" sz="1200" dirty="0"/>
          </a:p>
        </p:txBody>
      </p:sp>
      <p:sp>
        <p:nvSpPr>
          <p:cNvPr id="19" name="Shape 13"/>
          <p:cNvSpPr/>
          <p:nvPr/>
        </p:nvSpPr>
        <p:spPr>
          <a:xfrm>
            <a:off x="548640" y="4974336"/>
            <a:ext cx="420624" cy="420624"/>
          </a:xfrm>
          <a:prstGeom prst="ellipse">
            <a:avLst/>
          </a:prstGeom>
          <a:solidFill>
            <a:srgbClr val="151C2E"/>
          </a:solidFill>
          <a:ln w="6350">
            <a:solidFill>
              <a:srgbClr val="26304A"/>
            </a:solidFill>
            <a:prstDash val="solid"/>
          </a:ln>
        </p:spPr>
      </p:sp>
      <p:pic>
        <p:nvPicPr>
          <p:cNvPr id="20" name="Image 4" descr="preencoded.png">    </p:cNvPr>
          <p:cNvPicPr>
            <a:picLocks noChangeAspect="1"/>
          </p:cNvPicPr>
          <p:nvPr/>
        </p:nvPicPr>
        <p:blipFill>
          <a:blip r:embed="rId5"/>
          <a:stretch>
            <a:fillRect/>
          </a:stretch>
        </p:blipFill>
        <p:spPr>
          <a:xfrm>
            <a:off x="649590" y="5075286"/>
            <a:ext cx="218724" cy="218724"/>
          </a:xfrm>
          <a:prstGeom prst="rect">
            <a:avLst/>
          </a:prstGeom>
        </p:spPr>
      </p:pic>
      <p:sp>
        <p:nvSpPr>
          <p:cNvPr id="21" name="Text 14"/>
          <p:cNvSpPr txBox="1"/>
          <p:nvPr/>
        </p:nvSpPr>
        <p:spPr>
          <a:xfrm>
            <a:off x="1097280" y="4946904"/>
            <a:ext cx="3657600" cy="365760"/>
          </a:xfrm>
          <a:prstGeom prst="rect">
            <a:avLst/>
          </a:prstGeom>
          <a:noFill/>
          <a:ln/>
        </p:spPr>
        <p:txBody>
          <a:bodyPr wrap="square" lIns="0" tIns="0" rIns="0" bIns="0" rtlCol="0" anchor="ctr"/>
          <a:lstStyle/>
          <a:p>
            <a:pPr indent="0" marL="0">
              <a:buNone/>
            </a:pPr>
            <a:r>
              <a:rPr lang="en-US" sz="1450" b="1" dirty="0">
                <a:solidFill>
                  <a:srgbClr val="E8EBF3"/>
                </a:solidFill>
                <a:latin typeface="Calibri" pitchFamily="34" charset="0"/>
                <a:ea typeface="Calibri" pitchFamily="34" charset="-122"/>
                <a:cs typeface="Calibri" pitchFamily="34" charset="-120"/>
              </a:rPr>
              <a:t>Human and agent, one session</a:t>
            </a:r>
            <a:endParaRPr lang="en-US" sz="1450" dirty="0"/>
          </a:p>
        </p:txBody>
      </p:sp>
      <p:sp>
        <p:nvSpPr>
          <p:cNvPr id="22" name="Text 15"/>
          <p:cNvSpPr txBox="1"/>
          <p:nvPr/>
        </p:nvSpPr>
        <p:spPr>
          <a:xfrm>
            <a:off x="1097280" y="5321808"/>
            <a:ext cx="3657600" cy="777240"/>
          </a:xfrm>
          <a:prstGeom prst="rect">
            <a:avLst/>
          </a:prstGeom>
          <a:noFill/>
          <a:ln/>
        </p:spPr>
        <p:txBody>
          <a:bodyPr wrap="square" lIns="0" tIns="0" rIns="0" bIns="0" rtlCol="0" anchor="ctr"/>
          <a:lstStyle/>
          <a:p>
            <a:pPr indent="0" marL="0">
              <a:buNone/>
            </a:pPr>
            <a:r>
              <a:rPr lang="en-US" sz="1200" dirty="0">
                <a:solidFill>
                  <a:srgbClr val="8F97AD"/>
                </a:solidFill>
                <a:latin typeface="Calibri" pitchFamily="34" charset="0"/>
                <a:ea typeface="Calibri" pitchFamily="34" charset="-122"/>
                <a:cs typeface="Calibri" pitchFamily="34" charset="-120"/>
              </a:rPr>
              <a:t>Multiplayer by design: the person, the shield and the guardian share the same live context.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34D399"/>
                </a:solidFill>
                <a:latin typeface="Calibri" pitchFamily="34" charset="0"/>
                <a:ea typeface="Calibri" pitchFamily="34" charset="-122"/>
                <a:cs typeface="Calibri" pitchFamily="34" charset="-120"/>
              </a:rPr>
              <a:t>EVIDENCE</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600" dirty="0">
                <a:solidFill>
                  <a:srgbClr val="E8EBF3"/>
                </a:solidFill>
                <a:latin typeface="Cambria" pitchFamily="34" charset="0"/>
                <a:ea typeface="Cambria" pitchFamily="34" charset="-122"/>
                <a:cs typeface="Cambria" pitchFamily="34" charset="-120"/>
              </a:rPr>
              <a:t>Measured, not claimed.</a:t>
            </a:r>
            <a:endParaRPr lang="en-US" sz="3600" dirty="0"/>
          </a:p>
        </p:txBody>
      </p:sp>
      <p:sp>
        <p:nvSpPr>
          <p:cNvPr id="6" name="Text 4"/>
          <p:cNvSpPr txBox="1"/>
          <p:nvPr/>
        </p:nvSpPr>
        <p:spPr>
          <a:xfrm>
            <a:off x="548640" y="1234440"/>
            <a:ext cx="10972800" cy="548640"/>
          </a:xfrm>
          <a:prstGeom prst="rect">
            <a:avLst/>
          </a:prstGeom>
          <a:noFill/>
          <a:ln/>
        </p:spPr>
        <p:txBody>
          <a:bodyPr wrap="square" lIns="0" tIns="0" rIns="0" bIns="0" rtlCol="0" anchor="ctr"/>
          <a:lstStyle/>
          <a:p>
            <a:pPr indent="0" marL="0">
              <a:buNone/>
            </a:pPr>
            <a:r>
              <a:rPr lang="en-US" sz="1500" dirty="0">
                <a:solidFill>
                  <a:srgbClr val="8F97AD"/>
                </a:solidFill>
                <a:latin typeface="Calibri" pitchFamily="34" charset="0"/>
                <a:ea typeface="Calibri" pitchFamily="34" charset="-122"/>
                <a:cs typeface="Calibri" pitchFamily="34" charset="-120"/>
              </a:rPr>
              <a:t>Nine full call transcripts replayed through the real engine — seven scams, two genuine calls — plus a live benchmark page anyone can run against the deployed instance.</a:t>
            </a:r>
            <a:endParaRPr lang="en-US" sz="1500" dirty="0"/>
          </a:p>
        </p:txBody>
      </p:sp>
      <p:sp>
        <p:nvSpPr>
          <p:cNvPr id="7" name="Shape 5"/>
          <p:cNvSpPr/>
          <p:nvPr/>
        </p:nvSpPr>
        <p:spPr>
          <a:xfrm>
            <a:off x="548640" y="1965960"/>
            <a:ext cx="3566160" cy="1828800"/>
          </a:xfrm>
          <a:prstGeom prst="roundRect">
            <a:avLst>
              <a:gd name="adj" fmla="val 7000"/>
            </a:avLst>
          </a:prstGeom>
          <a:solidFill>
            <a:srgbClr val="0F1523"/>
          </a:solidFill>
          <a:ln w="9525">
            <a:solidFill>
              <a:srgbClr val="26304A"/>
            </a:solidFill>
            <a:prstDash val="solid"/>
          </a:ln>
        </p:spPr>
      </p:sp>
      <p:sp>
        <p:nvSpPr>
          <p:cNvPr id="8" name="Text 6"/>
          <p:cNvSpPr txBox="1"/>
          <p:nvPr/>
        </p:nvSpPr>
        <p:spPr>
          <a:xfrm>
            <a:off x="777240" y="2194560"/>
            <a:ext cx="3108960" cy="822960"/>
          </a:xfrm>
          <a:prstGeom prst="rect">
            <a:avLst/>
          </a:prstGeom>
          <a:noFill/>
          <a:ln/>
        </p:spPr>
        <p:txBody>
          <a:bodyPr wrap="square" lIns="0" tIns="0" rIns="0" bIns="0" rtlCol="0" anchor="ctr"/>
          <a:lstStyle/>
          <a:p>
            <a:pPr indent="0" marL="0">
              <a:buNone/>
            </a:pPr>
            <a:r>
              <a:rPr lang="en-US" sz="4000" dirty="0">
                <a:solidFill>
                  <a:srgbClr val="6EE7B7"/>
                </a:solidFill>
                <a:latin typeface="Cambria" pitchFamily="34" charset="0"/>
                <a:ea typeface="Cambria" pitchFamily="34" charset="-122"/>
                <a:cs typeface="Cambria" pitchFamily="34" charset="-120"/>
              </a:rPr>
              <a:t>100%</a:t>
            </a:r>
            <a:endParaRPr lang="en-US" sz="4000" dirty="0"/>
          </a:p>
        </p:txBody>
      </p:sp>
      <p:sp>
        <p:nvSpPr>
          <p:cNvPr id="9" name="Text 7"/>
          <p:cNvSpPr txBox="1"/>
          <p:nvPr/>
        </p:nvSpPr>
        <p:spPr>
          <a:xfrm>
            <a:off x="777240" y="306324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scam scenarios caught (reached DANGER)</a:t>
            </a:r>
            <a:endParaRPr lang="en-US" sz="1300" dirty="0"/>
          </a:p>
        </p:txBody>
      </p:sp>
      <p:sp>
        <p:nvSpPr>
          <p:cNvPr id="10" name="Shape 8"/>
          <p:cNvSpPr/>
          <p:nvPr/>
        </p:nvSpPr>
        <p:spPr>
          <a:xfrm>
            <a:off x="4297680" y="1965960"/>
            <a:ext cx="3566160" cy="1828800"/>
          </a:xfrm>
          <a:prstGeom prst="roundRect">
            <a:avLst>
              <a:gd name="adj" fmla="val 7000"/>
            </a:avLst>
          </a:prstGeom>
          <a:solidFill>
            <a:srgbClr val="0F1523"/>
          </a:solidFill>
          <a:ln w="9525">
            <a:solidFill>
              <a:srgbClr val="26304A"/>
            </a:solidFill>
            <a:prstDash val="solid"/>
          </a:ln>
        </p:spPr>
      </p:sp>
      <p:sp>
        <p:nvSpPr>
          <p:cNvPr id="11" name="Text 9"/>
          <p:cNvSpPr txBox="1"/>
          <p:nvPr/>
        </p:nvSpPr>
        <p:spPr>
          <a:xfrm>
            <a:off x="4526280" y="2194560"/>
            <a:ext cx="3108960" cy="822960"/>
          </a:xfrm>
          <a:prstGeom prst="rect">
            <a:avLst/>
          </a:prstGeom>
          <a:noFill/>
          <a:ln/>
        </p:spPr>
        <p:txBody>
          <a:bodyPr wrap="square" lIns="0" tIns="0" rIns="0" bIns="0" rtlCol="0" anchor="ctr"/>
          <a:lstStyle/>
          <a:p>
            <a:pPr indent="0" marL="0">
              <a:buNone/>
            </a:pPr>
            <a:r>
              <a:rPr lang="en-US" sz="4000" dirty="0">
                <a:solidFill>
                  <a:srgbClr val="6EE7B7"/>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4526280" y="306324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false alarms on genuine calls</a:t>
            </a:r>
            <a:endParaRPr lang="en-US" sz="1300" dirty="0"/>
          </a:p>
        </p:txBody>
      </p:sp>
      <p:sp>
        <p:nvSpPr>
          <p:cNvPr id="13" name="Shape 11"/>
          <p:cNvSpPr/>
          <p:nvPr/>
        </p:nvSpPr>
        <p:spPr>
          <a:xfrm>
            <a:off x="8046720" y="1965960"/>
            <a:ext cx="3566160" cy="1828800"/>
          </a:xfrm>
          <a:prstGeom prst="roundRect">
            <a:avLst>
              <a:gd name="adj" fmla="val 7000"/>
            </a:avLst>
          </a:prstGeom>
          <a:solidFill>
            <a:srgbClr val="0F1523"/>
          </a:solidFill>
          <a:ln w="9525">
            <a:solidFill>
              <a:srgbClr val="26304A"/>
            </a:solidFill>
            <a:prstDash val="solid"/>
          </a:ln>
        </p:spPr>
      </p:sp>
      <p:sp>
        <p:nvSpPr>
          <p:cNvPr id="14" name="Text 12"/>
          <p:cNvSpPr txBox="1"/>
          <p:nvPr/>
        </p:nvSpPr>
        <p:spPr>
          <a:xfrm>
            <a:off x="8275320" y="2194560"/>
            <a:ext cx="3108960" cy="822960"/>
          </a:xfrm>
          <a:prstGeom prst="rect">
            <a:avLst/>
          </a:prstGeom>
          <a:noFill/>
          <a:ln/>
        </p:spPr>
        <p:txBody>
          <a:bodyPr wrap="square" lIns="0" tIns="0" rIns="0" bIns="0" rtlCol="0" anchor="ctr"/>
          <a:lstStyle/>
          <a:p>
            <a:pPr indent="0" marL="0">
              <a:buNone/>
            </a:pPr>
            <a:r>
              <a:rPr lang="en-US" sz="4000" dirty="0">
                <a:solidFill>
                  <a:srgbClr val="FFC75F"/>
                </a:solidFill>
                <a:latin typeface="Cambria" pitchFamily="34" charset="0"/>
                <a:ea typeface="Cambria" pitchFamily="34" charset="-122"/>
                <a:cs typeface="Cambria" pitchFamily="34" charset="-120"/>
              </a:rPr>
              <a:t>100%</a:t>
            </a:r>
            <a:endParaRPr lang="en-US" sz="4000" dirty="0"/>
          </a:p>
        </p:txBody>
      </p:sp>
      <p:sp>
        <p:nvSpPr>
          <p:cNvPr id="15" name="Text 13"/>
          <p:cNvSpPr txBox="1"/>
          <p:nvPr/>
        </p:nvSpPr>
        <p:spPr>
          <a:xfrm>
            <a:off x="8275320" y="306324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scripts named correctly</a:t>
            </a:r>
            <a:endParaRPr lang="en-US" sz="1300" dirty="0"/>
          </a:p>
        </p:txBody>
      </p:sp>
      <p:sp>
        <p:nvSpPr>
          <p:cNvPr id="16" name="Shape 14"/>
          <p:cNvSpPr/>
          <p:nvPr/>
        </p:nvSpPr>
        <p:spPr>
          <a:xfrm>
            <a:off x="548640" y="3977640"/>
            <a:ext cx="3566160" cy="1828800"/>
          </a:xfrm>
          <a:prstGeom prst="roundRect">
            <a:avLst>
              <a:gd name="adj" fmla="val 7000"/>
            </a:avLst>
          </a:prstGeom>
          <a:solidFill>
            <a:srgbClr val="0F1523"/>
          </a:solidFill>
          <a:ln w="9525">
            <a:solidFill>
              <a:srgbClr val="26304A"/>
            </a:solidFill>
            <a:prstDash val="solid"/>
          </a:ln>
        </p:spPr>
      </p:sp>
      <p:sp>
        <p:nvSpPr>
          <p:cNvPr id="17" name="Text 15"/>
          <p:cNvSpPr txBox="1"/>
          <p:nvPr/>
        </p:nvSpPr>
        <p:spPr>
          <a:xfrm>
            <a:off x="777240" y="4206240"/>
            <a:ext cx="3108960" cy="822960"/>
          </a:xfrm>
          <a:prstGeom prst="rect">
            <a:avLst/>
          </a:prstGeom>
          <a:noFill/>
          <a:ln/>
        </p:spPr>
        <p:txBody>
          <a:bodyPr wrap="square" lIns="0" tIns="0" rIns="0" bIns="0" rtlCol="0" anchor="ctr"/>
          <a:lstStyle/>
          <a:p>
            <a:pPr indent="0" marL="0">
              <a:buNone/>
            </a:pPr>
            <a:r>
              <a:rPr lang="en-US" sz="4000" dirty="0">
                <a:solidFill>
                  <a:srgbClr val="FFC75F"/>
                </a:solidFill>
                <a:latin typeface="Cambria" pitchFamily="34" charset="0"/>
                <a:ea typeface="Cambria" pitchFamily="34" charset="-122"/>
                <a:cs typeface="Cambria" pitchFamily="34" charset="-120"/>
              </a:rPr>
              <a:t>4.3</a:t>
            </a:r>
            <a:endParaRPr lang="en-US" sz="4000" dirty="0"/>
          </a:p>
        </p:txBody>
      </p:sp>
      <p:sp>
        <p:nvSpPr>
          <p:cNvPr id="18" name="Text 16"/>
          <p:cNvSpPr txBox="1"/>
          <p:nvPr/>
        </p:nvSpPr>
        <p:spPr>
          <a:xfrm>
            <a:off x="777240" y="507492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mean turn at which DANGER fired</a:t>
            </a:r>
            <a:endParaRPr lang="en-US" sz="1300" dirty="0"/>
          </a:p>
        </p:txBody>
      </p:sp>
      <p:sp>
        <p:nvSpPr>
          <p:cNvPr id="19" name="Shape 17"/>
          <p:cNvSpPr/>
          <p:nvPr/>
        </p:nvSpPr>
        <p:spPr>
          <a:xfrm>
            <a:off x="4297680" y="3977640"/>
            <a:ext cx="3566160" cy="1828800"/>
          </a:xfrm>
          <a:prstGeom prst="roundRect">
            <a:avLst>
              <a:gd name="adj" fmla="val 7000"/>
            </a:avLst>
          </a:prstGeom>
          <a:solidFill>
            <a:srgbClr val="0F1523"/>
          </a:solidFill>
          <a:ln w="9525">
            <a:solidFill>
              <a:srgbClr val="26304A"/>
            </a:solidFill>
            <a:prstDash val="solid"/>
          </a:ln>
        </p:spPr>
      </p:sp>
      <p:sp>
        <p:nvSpPr>
          <p:cNvPr id="20" name="Text 18"/>
          <p:cNvSpPr txBox="1"/>
          <p:nvPr/>
        </p:nvSpPr>
        <p:spPr>
          <a:xfrm>
            <a:off x="4526280" y="4206240"/>
            <a:ext cx="3108960" cy="822960"/>
          </a:xfrm>
          <a:prstGeom prst="rect">
            <a:avLst/>
          </a:prstGeom>
          <a:noFill/>
          <a:ln/>
        </p:spPr>
        <p:txBody>
          <a:bodyPr wrap="square" lIns="0" tIns="0" rIns="0" bIns="0" rtlCol="0" anchor="ctr"/>
          <a:lstStyle/>
          <a:p>
            <a:pPr indent="0" marL="0">
              <a:buNone/>
            </a:pPr>
            <a:r>
              <a:rPr lang="en-US" sz="4000" dirty="0">
                <a:solidFill>
                  <a:srgbClr val="6EE7B7"/>
                </a:solidFill>
                <a:latin typeface="Cambria" pitchFamily="34" charset="0"/>
                <a:ea typeface="Cambria" pitchFamily="34" charset="-122"/>
                <a:cs typeface="Cambria" pitchFamily="34" charset="-120"/>
              </a:rPr>
              <a:t>13.8 ms</a:t>
            </a:r>
            <a:endParaRPr lang="en-US" sz="4000" dirty="0"/>
          </a:p>
        </p:txBody>
      </p:sp>
      <p:sp>
        <p:nvSpPr>
          <p:cNvPr id="21" name="Text 19"/>
          <p:cNvSpPr txBox="1"/>
          <p:nvPr/>
        </p:nvSpPr>
        <p:spPr>
          <a:xfrm>
            <a:off x="4526280" y="507492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retrieval p50, embed + search</a:t>
            </a:r>
            <a:endParaRPr lang="en-US" sz="1300" dirty="0"/>
          </a:p>
        </p:txBody>
      </p:sp>
      <p:sp>
        <p:nvSpPr>
          <p:cNvPr id="22" name="Shape 20"/>
          <p:cNvSpPr/>
          <p:nvPr/>
        </p:nvSpPr>
        <p:spPr>
          <a:xfrm>
            <a:off x="8046720" y="3977640"/>
            <a:ext cx="3566160" cy="1828800"/>
          </a:xfrm>
          <a:prstGeom prst="roundRect">
            <a:avLst>
              <a:gd name="adj" fmla="val 7000"/>
            </a:avLst>
          </a:prstGeom>
          <a:solidFill>
            <a:srgbClr val="0F1523"/>
          </a:solidFill>
          <a:ln w="9525">
            <a:solidFill>
              <a:srgbClr val="26304A"/>
            </a:solidFill>
            <a:prstDash val="solid"/>
          </a:ln>
        </p:spPr>
      </p:sp>
      <p:sp>
        <p:nvSpPr>
          <p:cNvPr id="23" name="Text 21"/>
          <p:cNvSpPr txBox="1"/>
          <p:nvPr/>
        </p:nvSpPr>
        <p:spPr>
          <a:xfrm>
            <a:off x="8275320" y="4206240"/>
            <a:ext cx="3108960" cy="822960"/>
          </a:xfrm>
          <a:prstGeom prst="rect">
            <a:avLst/>
          </a:prstGeom>
          <a:noFill/>
          <a:ln/>
        </p:spPr>
        <p:txBody>
          <a:bodyPr wrap="square" lIns="0" tIns="0" rIns="0" bIns="0" rtlCol="0" anchor="ctr"/>
          <a:lstStyle/>
          <a:p>
            <a:pPr indent="0" marL="0">
              <a:buNone/>
            </a:pPr>
            <a:r>
              <a:rPr lang="en-US" sz="4000" dirty="0">
                <a:solidFill>
                  <a:srgbClr val="6EE7B7"/>
                </a:solidFill>
                <a:latin typeface="Cambria" pitchFamily="34" charset="0"/>
                <a:ea typeface="Cambria" pitchFamily="34" charset="-122"/>
                <a:cs typeface="Cambria" pitchFamily="34" charset="-120"/>
              </a:rPr>
              <a:t>26.7 ms</a:t>
            </a:r>
            <a:endParaRPr lang="en-US" sz="4000" dirty="0"/>
          </a:p>
        </p:txBody>
      </p:sp>
      <p:sp>
        <p:nvSpPr>
          <p:cNvPr id="24" name="Text 22"/>
          <p:cNvSpPr txBox="1"/>
          <p:nvPr/>
        </p:nvSpPr>
        <p:spPr>
          <a:xfrm>
            <a:off x="8275320" y="5074920"/>
            <a:ext cx="3108960" cy="548640"/>
          </a:xfrm>
          <a:prstGeom prst="rect">
            <a:avLst/>
          </a:prstGeom>
          <a:noFill/>
          <a:ln/>
        </p:spPr>
        <p:txBody>
          <a:bodyPr wrap="square" lIns="0" tIns="0" rIns="0" bIns="0" rtlCol="0" anchor="ctr"/>
          <a:lstStyle/>
          <a:p>
            <a:pPr indent="0" marL="0">
              <a:buNone/>
            </a:pPr>
            <a:r>
              <a:rPr lang="en-US" sz="1300" dirty="0">
                <a:solidFill>
                  <a:srgbClr val="8F97AD"/>
                </a:solidFill>
                <a:latin typeface="Calibri" pitchFamily="34" charset="0"/>
                <a:ea typeface="Calibri" pitchFamily="34" charset="-122"/>
                <a:cs typeface="Calibri" pitchFamily="34" charset="-120"/>
              </a:rPr>
              <a:t>retrieval p95</a:t>
            </a:r>
            <a:endParaRPr lang="en-US" sz="1300" dirty="0"/>
          </a:p>
        </p:txBody>
      </p:sp>
      <p:sp>
        <p:nvSpPr>
          <p:cNvPr id="25" name="Text 23"/>
          <p:cNvSpPr txBox="1"/>
          <p:nvPr/>
        </p:nvSpPr>
        <p:spPr>
          <a:xfrm>
            <a:off x="548640" y="5989320"/>
            <a:ext cx="10972800" cy="320040"/>
          </a:xfrm>
          <a:prstGeom prst="rect">
            <a:avLst/>
          </a:prstGeom>
          <a:noFill/>
          <a:ln/>
        </p:spPr>
        <p:txBody>
          <a:bodyPr wrap="square" lIns="0" tIns="0" rIns="0" bIns="0" rtlCol="0" anchor="ctr"/>
          <a:lstStyle/>
          <a:p>
            <a:pPr indent="0" marL="0">
              <a:buNone/>
            </a:pPr>
            <a:r>
              <a:rPr lang="en-US" sz="1100" dirty="0">
                <a:solidFill>
                  <a:srgbClr val="5B637A"/>
                </a:solidFill>
                <a:latin typeface="Calibri" pitchFamily="34" charset="0"/>
                <a:ea typeface="Calibri" pitchFamily="34" charset="-122"/>
                <a:cs typeface="Calibri" pitchFamily="34" charset="-120"/>
              </a:rPr>
              <a:t>Full turn-by-turn report: docs/eval/REPORT.md  ·  runtime: Moss, in-process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BUSINESS</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400" dirty="0">
                <a:solidFill>
                  <a:srgbClr val="E8EBF3"/>
                </a:solidFill>
                <a:latin typeface="Cambria" pitchFamily="34" charset="0"/>
                <a:ea typeface="Cambria" pitchFamily="34" charset="-122"/>
                <a:cs typeface="Cambria" pitchFamily="34" charset="-120"/>
              </a:rPr>
              <a:t>Who pays, and why the economics work.</a:t>
            </a:r>
            <a:endParaRPr lang="en-US" sz="3400" dirty="0"/>
          </a:p>
        </p:txBody>
      </p:sp>
      <p:sp>
        <p:nvSpPr>
          <p:cNvPr id="6" name="Shape 4"/>
          <p:cNvSpPr/>
          <p:nvPr/>
        </p:nvSpPr>
        <p:spPr>
          <a:xfrm>
            <a:off x="548640" y="1417320"/>
            <a:ext cx="7223760" cy="1234440"/>
          </a:xfrm>
          <a:prstGeom prst="roundRect">
            <a:avLst>
              <a:gd name="adj" fmla="val 10370"/>
            </a:avLst>
          </a:prstGeom>
          <a:solidFill>
            <a:srgbClr val="0F1523"/>
          </a:solidFill>
          <a:ln w="9525">
            <a:solidFill>
              <a:srgbClr val="26304A"/>
            </a:solidFill>
            <a:prstDash val="solid"/>
          </a:ln>
        </p:spPr>
      </p:sp>
      <p:sp>
        <p:nvSpPr>
          <p:cNvPr id="7" name="Shape 5"/>
          <p:cNvSpPr/>
          <p:nvPr/>
        </p:nvSpPr>
        <p:spPr>
          <a:xfrm>
            <a:off x="777240" y="1783080"/>
            <a:ext cx="475488" cy="475488"/>
          </a:xfrm>
          <a:prstGeom prst="ellipse">
            <a:avLst/>
          </a:prstGeom>
          <a:solidFill>
            <a:srgbClr val="151C2E"/>
          </a:solidFill>
          <a:ln w="6350">
            <a:solidFill>
              <a:srgbClr val="26304A"/>
            </a:solidFill>
            <a:prstDash val="solid"/>
          </a:ln>
        </p:spPr>
      </p:sp>
      <p:pic>
        <p:nvPicPr>
          <p:cNvPr id="8" name="Image 0" descr="preencoded.png">    </p:cNvPr>
          <p:cNvPicPr>
            <a:picLocks noChangeAspect="1"/>
          </p:cNvPicPr>
          <p:nvPr/>
        </p:nvPicPr>
        <p:blipFill>
          <a:blip r:embed="rId1"/>
          <a:stretch>
            <a:fillRect/>
          </a:stretch>
        </p:blipFill>
        <p:spPr>
          <a:xfrm>
            <a:off x="891357" y="1897197"/>
            <a:ext cx="247254" cy="247254"/>
          </a:xfrm>
          <a:prstGeom prst="rect">
            <a:avLst/>
          </a:prstGeom>
        </p:spPr>
      </p:pic>
      <p:sp>
        <p:nvSpPr>
          <p:cNvPr id="9" name="Text 6"/>
          <p:cNvSpPr txBox="1"/>
          <p:nvPr/>
        </p:nvSpPr>
        <p:spPr>
          <a:xfrm>
            <a:off x="1463040" y="1554480"/>
            <a:ext cx="6126480" cy="36576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Banks &amp; payment apps</a:t>
            </a:r>
            <a:endParaRPr lang="en-US" sz="1500" dirty="0"/>
          </a:p>
        </p:txBody>
      </p:sp>
      <p:sp>
        <p:nvSpPr>
          <p:cNvPr id="10" name="Text 7"/>
          <p:cNvSpPr txBox="1"/>
          <p:nvPr/>
        </p:nvSpPr>
        <p:spPr>
          <a:xfrm>
            <a:off x="1463040" y="1892808"/>
            <a:ext cx="6126480" cy="73152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From 1 Jan 2027 RBI makes banks compensate scam-induced losses; UK banks already reimburse £354M/yr. A per-customer licence (₹5–15/month) that stops even a fraction of transfers beats any refund — and gives the bank a real-time “transfer hold” signal.</a:t>
            </a:r>
            <a:endParaRPr lang="en-US" sz="1150" dirty="0"/>
          </a:p>
        </p:txBody>
      </p:sp>
      <p:sp>
        <p:nvSpPr>
          <p:cNvPr id="11" name="Shape 8"/>
          <p:cNvSpPr/>
          <p:nvPr/>
        </p:nvSpPr>
        <p:spPr>
          <a:xfrm>
            <a:off x="548640" y="2788920"/>
            <a:ext cx="7223760" cy="1234440"/>
          </a:xfrm>
          <a:prstGeom prst="roundRect">
            <a:avLst>
              <a:gd name="adj" fmla="val 10370"/>
            </a:avLst>
          </a:prstGeom>
          <a:solidFill>
            <a:srgbClr val="0F1523"/>
          </a:solidFill>
          <a:ln w="9525">
            <a:solidFill>
              <a:srgbClr val="26304A"/>
            </a:solidFill>
            <a:prstDash val="solid"/>
          </a:ln>
        </p:spPr>
      </p:sp>
      <p:sp>
        <p:nvSpPr>
          <p:cNvPr id="12" name="Shape 9"/>
          <p:cNvSpPr/>
          <p:nvPr/>
        </p:nvSpPr>
        <p:spPr>
          <a:xfrm>
            <a:off x="777240" y="3154680"/>
            <a:ext cx="475488" cy="475488"/>
          </a:xfrm>
          <a:prstGeom prst="ellipse">
            <a:avLst/>
          </a:prstGeom>
          <a:solidFill>
            <a:srgbClr val="151C2E"/>
          </a:solidFill>
          <a:ln w="6350">
            <a:solidFill>
              <a:srgbClr val="26304A"/>
            </a:solidFill>
            <a:prstDash val="solid"/>
          </a:ln>
        </p:spPr>
      </p:sp>
      <p:pic>
        <p:nvPicPr>
          <p:cNvPr id="13" name="Image 1" descr="preencoded.png">    </p:cNvPr>
          <p:cNvPicPr>
            <a:picLocks noChangeAspect="1"/>
          </p:cNvPicPr>
          <p:nvPr/>
        </p:nvPicPr>
        <p:blipFill>
          <a:blip r:embed="rId2"/>
          <a:stretch>
            <a:fillRect/>
          </a:stretch>
        </p:blipFill>
        <p:spPr>
          <a:xfrm>
            <a:off x="891357" y="3268797"/>
            <a:ext cx="247254" cy="247254"/>
          </a:xfrm>
          <a:prstGeom prst="rect">
            <a:avLst/>
          </a:prstGeom>
        </p:spPr>
      </p:pic>
      <p:sp>
        <p:nvSpPr>
          <p:cNvPr id="14" name="Text 10"/>
          <p:cNvSpPr txBox="1"/>
          <p:nvPr/>
        </p:nvSpPr>
        <p:spPr>
          <a:xfrm>
            <a:off x="1463040" y="2926080"/>
            <a:ext cx="6126480" cy="36576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Telcos &amp; OEMs</a:t>
            </a:r>
            <a:endParaRPr lang="en-US" sz="1500" dirty="0"/>
          </a:p>
        </p:txBody>
      </p:sp>
      <p:sp>
        <p:nvSpPr>
          <p:cNvPr id="15" name="Text 11"/>
          <p:cNvSpPr txBox="1"/>
          <p:nvPr/>
        </p:nvSpPr>
        <p:spPr>
          <a:xfrm>
            <a:off x="1463040" y="3264408"/>
            <a:ext cx="6126480" cy="73152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A “protected line” add-on (₹49–99/month) on any Android phone, not just a Pixel. DoT's kill-switch ambitions need exactly this signal.</a:t>
            </a:r>
            <a:endParaRPr lang="en-US" sz="1150" dirty="0"/>
          </a:p>
        </p:txBody>
      </p:sp>
      <p:sp>
        <p:nvSpPr>
          <p:cNvPr id="16" name="Shape 12"/>
          <p:cNvSpPr/>
          <p:nvPr/>
        </p:nvSpPr>
        <p:spPr>
          <a:xfrm>
            <a:off x="548640" y="4160520"/>
            <a:ext cx="7223760" cy="1234440"/>
          </a:xfrm>
          <a:prstGeom prst="roundRect">
            <a:avLst>
              <a:gd name="adj" fmla="val 10370"/>
            </a:avLst>
          </a:prstGeom>
          <a:solidFill>
            <a:srgbClr val="0F1523"/>
          </a:solidFill>
          <a:ln w="9525">
            <a:solidFill>
              <a:srgbClr val="26304A"/>
            </a:solidFill>
            <a:prstDash val="solid"/>
          </a:ln>
        </p:spPr>
      </p:sp>
      <p:sp>
        <p:nvSpPr>
          <p:cNvPr id="17" name="Shape 13"/>
          <p:cNvSpPr/>
          <p:nvPr/>
        </p:nvSpPr>
        <p:spPr>
          <a:xfrm>
            <a:off x="777240" y="4526280"/>
            <a:ext cx="475488" cy="475488"/>
          </a:xfrm>
          <a:prstGeom prst="ellipse">
            <a:avLst/>
          </a:prstGeom>
          <a:solidFill>
            <a:srgbClr val="151C2E"/>
          </a:solidFill>
          <a:ln w="6350">
            <a:solidFill>
              <a:srgbClr val="26304A"/>
            </a:solidFill>
            <a:prstDash val="solid"/>
          </a:ln>
        </p:spPr>
      </p:sp>
      <p:pic>
        <p:nvPicPr>
          <p:cNvPr id="18" name="Image 2" descr="preencoded.png">    </p:cNvPr>
          <p:cNvPicPr>
            <a:picLocks noChangeAspect="1"/>
          </p:cNvPicPr>
          <p:nvPr/>
        </p:nvPicPr>
        <p:blipFill>
          <a:blip r:embed="rId3"/>
          <a:stretch>
            <a:fillRect/>
          </a:stretch>
        </p:blipFill>
        <p:spPr>
          <a:xfrm>
            <a:off x="891357" y="4640397"/>
            <a:ext cx="247254" cy="247254"/>
          </a:xfrm>
          <a:prstGeom prst="rect">
            <a:avLst/>
          </a:prstGeom>
        </p:spPr>
      </p:pic>
      <p:sp>
        <p:nvSpPr>
          <p:cNvPr id="19" name="Text 14"/>
          <p:cNvSpPr txBox="1"/>
          <p:nvPr/>
        </p:nvSpPr>
        <p:spPr>
          <a:xfrm>
            <a:off x="1463040" y="4297680"/>
            <a:ext cx="6126480" cy="365760"/>
          </a:xfrm>
          <a:prstGeom prst="rect">
            <a:avLst/>
          </a:prstGeom>
          <a:noFill/>
          <a:ln/>
        </p:spPr>
        <p:txBody>
          <a:bodyPr wrap="square" lIns="0" tIns="0" rIns="0" bIns="0" rtlCol="0" anchor="ctr"/>
          <a:lstStyle/>
          <a:p>
            <a:pPr indent="0" marL="0">
              <a:buNone/>
            </a:pPr>
            <a:r>
              <a:rPr lang="en-US" sz="1500" b="1" dirty="0">
                <a:solidFill>
                  <a:srgbClr val="E8EBF3"/>
                </a:solidFill>
                <a:latin typeface="Calibri" pitchFamily="34" charset="0"/>
                <a:ea typeface="Calibri" pitchFamily="34" charset="-122"/>
                <a:cs typeface="Calibri" pitchFamily="34" charset="-120"/>
              </a:rPr>
              <a:t>Families</a:t>
            </a:r>
            <a:endParaRPr lang="en-US" sz="1500" dirty="0"/>
          </a:p>
        </p:txBody>
      </p:sp>
      <p:sp>
        <p:nvSpPr>
          <p:cNvPr id="20" name="Text 15"/>
          <p:cNvSpPr txBox="1"/>
          <p:nvPr/>
        </p:nvSpPr>
        <p:spPr>
          <a:xfrm>
            <a:off x="1463040" y="4636008"/>
            <a:ext cx="6126480" cy="731520"/>
          </a:xfrm>
          <a:prstGeom prst="rect">
            <a:avLst/>
          </a:prstGeom>
          <a:noFill/>
          <a:ln/>
        </p:spPr>
        <p:txBody>
          <a:bodyPr wrap="square" lIns="0" tIns="0" rIns="0" bIns="0" rtlCol="0" anchor="ctr"/>
          <a:lstStyle/>
          <a:p>
            <a:pPr indent="0" marL="0">
              <a:buNone/>
            </a:pPr>
            <a:r>
              <a:rPr lang="en-US" sz="1150" dirty="0">
                <a:solidFill>
                  <a:srgbClr val="8F97AD"/>
                </a:solidFill>
                <a:latin typeface="Calibri" pitchFamily="34" charset="0"/>
                <a:ea typeface="Calibri" pitchFamily="34" charset="-122"/>
                <a:cs typeface="Calibri" pitchFamily="34" charset="-120"/>
              </a:rPr>
              <a:t>A ₹99/month circle that protects parents — the price band where family-safety apps already convert (Life360: 2.8M paying circles).</a:t>
            </a:r>
            <a:endParaRPr lang="en-US" sz="1150" dirty="0"/>
          </a:p>
        </p:txBody>
      </p:sp>
      <p:sp>
        <p:nvSpPr>
          <p:cNvPr id="21" name="Shape 16"/>
          <p:cNvSpPr/>
          <p:nvPr/>
        </p:nvSpPr>
        <p:spPr>
          <a:xfrm>
            <a:off x="8046720" y="1417320"/>
            <a:ext cx="3566160" cy="3977640"/>
          </a:xfrm>
          <a:prstGeom prst="roundRect">
            <a:avLst>
              <a:gd name="adj" fmla="val 3590"/>
            </a:avLst>
          </a:prstGeom>
          <a:solidFill>
            <a:srgbClr val="1A1608"/>
          </a:solidFill>
          <a:ln w="9525">
            <a:solidFill>
              <a:srgbClr val="F5A524"/>
            </a:solidFill>
            <a:prstDash val="solid"/>
          </a:ln>
        </p:spPr>
      </p:sp>
      <p:sp>
        <p:nvSpPr>
          <p:cNvPr id="22" name="Text 17"/>
          <p:cNvSpPr txBox="1"/>
          <p:nvPr/>
        </p:nvSpPr>
        <p:spPr>
          <a:xfrm>
            <a:off x="8275320" y="1600200"/>
            <a:ext cx="3200400" cy="274320"/>
          </a:xfrm>
          <a:prstGeom prst="rect">
            <a:avLst/>
          </a:prstGeom>
          <a:noFill/>
          <a:ln/>
        </p:spPr>
        <p:txBody>
          <a:bodyPr wrap="square" lIns="0" tIns="0" rIns="0" bIns="0" rtlCol="0" anchor="ctr"/>
          <a:lstStyle/>
          <a:p>
            <a:pPr indent="0" marL="0">
              <a:buNone/>
            </a:pPr>
            <a:r>
              <a:rPr lang="en-US" sz="1000" b="1" spc="200" kern="0" dirty="0">
                <a:solidFill>
                  <a:srgbClr val="F5A524"/>
                </a:solidFill>
                <a:latin typeface="Calibri" pitchFamily="34" charset="0"/>
                <a:ea typeface="Calibri" pitchFamily="34" charset="-122"/>
                <a:cs typeface="Calibri" pitchFamily="34" charset="-120"/>
              </a:rPr>
              <a:t>UNIT COST PER PROTECTED CALL</a:t>
            </a:r>
            <a:endParaRPr lang="en-US" sz="1000" dirty="0"/>
          </a:p>
        </p:txBody>
      </p:sp>
      <p:sp>
        <p:nvSpPr>
          <p:cNvPr id="23" name="Text 18"/>
          <p:cNvSpPr txBox="1"/>
          <p:nvPr/>
        </p:nvSpPr>
        <p:spPr>
          <a:xfrm>
            <a:off x="8275320" y="1920240"/>
            <a:ext cx="3200400" cy="822960"/>
          </a:xfrm>
          <a:prstGeom prst="rect">
            <a:avLst/>
          </a:prstGeom>
          <a:noFill/>
          <a:ln/>
        </p:spPr>
        <p:txBody>
          <a:bodyPr wrap="square" lIns="0" tIns="0" rIns="0" bIns="0" rtlCol="0" anchor="ctr"/>
          <a:lstStyle/>
          <a:p>
            <a:pPr indent="0" marL="0">
              <a:buNone/>
            </a:pPr>
            <a:r>
              <a:rPr lang="en-US" sz="4400" dirty="0">
                <a:solidFill>
                  <a:srgbClr val="FFC75F"/>
                </a:solidFill>
                <a:latin typeface="Cambria" pitchFamily="34" charset="0"/>
                <a:ea typeface="Cambria" pitchFamily="34" charset="-122"/>
                <a:cs typeface="Cambria" pitchFamily="34" charset="-120"/>
              </a:rPr>
              <a:t>≈ ₹0.02</a:t>
            </a:r>
            <a:endParaRPr lang="en-US" sz="4400" dirty="0"/>
          </a:p>
        </p:txBody>
      </p:sp>
      <p:sp>
        <p:nvSpPr>
          <p:cNvPr id="24" name="Text 19"/>
          <p:cNvSpPr txBox="1"/>
          <p:nvPr/>
        </p:nvSpPr>
        <p:spPr>
          <a:xfrm>
            <a:off x="8275320" y="2834640"/>
            <a:ext cx="32004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8EBF3"/>
                </a:solidFill>
                <a:latin typeface="Calibri" pitchFamily="34" charset="0"/>
                <a:ea typeface="Calibri" pitchFamily="34" charset="-122"/>
                <a:cs typeface="Calibri" pitchFamily="34" charset="-120"/>
              </a:rPr>
              <a:t>Moss local queries: ₹0 (unmetered)</a:t>
            </a:r>
            <a:endParaRPr lang="en-US" sz="1200" dirty="0"/>
          </a:p>
          <a:p>
            <a:pPr marL="342900" indent="-342900">
              <a:spcAft>
                <a:spcPts val="600"/>
              </a:spcAft>
              <a:buSzPct val="100000"/>
              <a:buChar char="•"/>
            </a:pPr>
            <a:r>
              <a:rPr lang="en-US" sz="1200" dirty="0">
                <a:solidFill>
                  <a:srgbClr val="E8EBF3"/>
                </a:solidFill>
                <a:latin typeface="Calibri" pitchFamily="34" charset="0"/>
                <a:ea typeface="Calibri" pitchFamily="34" charset="-122"/>
                <a:cs typeface="Calibri" pitchFamily="34" charset="-120"/>
              </a:rPr>
              <a:t>STT on device: ₹0</a:t>
            </a:r>
            <a:endParaRPr lang="en-US" sz="1200" dirty="0"/>
          </a:p>
          <a:p>
            <a:pPr marL="342900" indent="-342900">
              <a:spcAft>
                <a:spcPts val="600"/>
              </a:spcAft>
              <a:buSzPct val="100000"/>
              <a:buChar char="•"/>
            </a:pPr>
            <a:r>
              <a:rPr lang="en-US" sz="1200" dirty="0">
                <a:solidFill>
                  <a:srgbClr val="E8EBF3"/>
                </a:solidFill>
                <a:latin typeface="Calibri" pitchFamily="34" charset="0"/>
                <a:ea typeface="Calibri" pitchFamily="34" charset="-122"/>
                <a:cs typeface="Calibri" pitchFamily="34" charset="-120"/>
              </a:rPr>
              <a:t>LLM coach, ≤ 6 calls on a 20B model: ≈ ₹0.02</a:t>
            </a:r>
            <a:endParaRPr lang="en-US" sz="1200" dirty="0"/>
          </a:p>
          <a:p>
            <a:pPr marL="342900" indent="-342900">
              <a:spcAft>
                <a:spcPts val="600"/>
              </a:spcAft>
              <a:buSzPct val="100000"/>
              <a:buChar char="•"/>
            </a:pPr>
            <a:r>
              <a:rPr lang="en-US" sz="1200" dirty="0">
                <a:solidFill>
                  <a:srgbClr val="E8EBF3"/>
                </a:solidFill>
                <a:latin typeface="Calibri" pitchFamily="34" charset="0"/>
                <a:ea typeface="Calibri" pitchFamily="34" charset="-122"/>
                <a:cs typeface="Calibri" pitchFamily="34" charset="-120"/>
              </a:rPr>
              <a:t>One small container serves thousands of concurrent calls</a:t>
            </a:r>
            <a:endParaRPr lang="en-US" sz="1200" dirty="0"/>
          </a:p>
        </p:txBody>
      </p:sp>
      <p:sp>
        <p:nvSpPr>
          <p:cNvPr id="25" name="Text 20"/>
          <p:cNvSpPr txBox="1"/>
          <p:nvPr/>
        </p:nvSpPr>
        <p:spPr>
          <a:xfrm>
            <a:off x="8275320" y="4617720"/>
            <a:ext cx="3200400" cy="731520"/>
          </a:xfrm>
          <a:prstGeom prst="rect">
            <a:avLst/>
          </a:prstGeom>
          <a:noFill/>
          <a:ln/>
        </p:spPr>
        <p:txBody>
          <a:bodyPr wrap="square" lIns="0" tIns="0" rIns="0" bIns="0" rtlCol="0" anchor="ctr"/>
          <a:lstStyle/>
          <a:p>
            <a:pPr indent="0" marL="0">
              <a:buNone/>
            </a:pPr>
            <a:r>
              <a:rPr lang="en-US" sz="1150" i="1" dirty="0">
                <a:solidFill>
                  <a:srgbClr val="FFC75F"/>
                </a:solidFill>
                <a:latin typeface="Calibri" pitchFamily="34" charset="0"/>
                <a:ea typeface="Calibri" pitchFamily="34" charset="-122"/>
                <a:cs typeface="Calibri" pitchFamily="34" charset="-120"/>
              </a:rPr>
              <a:t>One prevented ₹1.5-lakh digital-arrest transfer pays for ~7 million protected calls.</a:t>
            </a:r>
            <a:endParaRPr lang="en-US" sz="1150" dirty="0"/>
          </a:p>
        </p:txBody>
      </p:sp>
      <p:sp>
        <p:nvSpPr>
          <p:cNvPr id="26" name="Text 21"/>
          <p:cNvSpPr txBox="1"/>
          <p:nvPr/>
        </p:nvSpPr>
        <p:spPr>
          <a:xfrm>
            <a:off x="548640" y="5623560"/>
            <a:ext cx="10972800" cy="548640"/>
          </a:xfrm>
          <a:prstGeom prst="rect">
            <a:avLst/>
          </a:prstGeom>
          <a:noFill/>
          <a:ln/>
        </p:spPr>
        <p:txBody>
          <a:bodyPr wrap="square" lIns="0" tIns="0" rIns="0" bIns="0" rtlCol="0" anchor="ctr"/>
          <a:lstStyle/>
          <a:p>
            <a:pPr indent="0" marL="0">
              <a:buNone/>
            </a:pPr>
            <a:r>
              <a:rPr lang="en-US" sz="1600" i="1" dirty="0">
                <a:solidFill>
                  <a:srgbClr val="E8EBF3"/>
                </a:solidFill>
                <a:latin typeface="Cambria" pitchFamily="34" charset="0"/>
                <a:ea typeface="Cambria" pitchFamily="34" charset="-122"/>
                <a:cs typeface="Cambria" pitchFamily="34" charset="-120"/>
              </a:rPr>
              <a:t>“Truecaller tells you who is calling. Raksha tells you what they are doing to you — and what to say back.”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80F"/>
        </a:solidFill>
      </p:bgPr>
    </p:bg>
    <p:spTree>
      <p:nvGrpSpPr>
        <p:cNvPr id="1" name=""/>
        <p:cNvGrpSpPr/>
        <p:nvPr/>
      </p:nvGrpSpPr>
      <p:grpSpPr>
        <a:xfrm>
          <a:off x="0" y="0"/>
          <a:ext cx="0" cy="0"/>
          <a:chOff x="0" y="0"/>
          <a:chExt cx="0" cy="0"/>
        </a:xfrm>
      </p:grpSpPr>
      <p:sp>
        <p:nvSpPr>
          <p:cNvPr id="2" name="Text 0"/>
          <p:cNvSpPr txBox="1"/>
          <p:nvPr/>
        </p:nvSpPr>
        <p:spPr>
          <a:xfrm>
            <a:off x="457200" y="6400800"/>
            <a:ext cx="2743200" cy="274320"/>
          </a:xfrm>
          <a:prstGeom prst="rect">
            <a:avLst/>
          </a:prstGeom>
          <a:noFill/>
          <a:ln/>
        </p:spPr>
        <p:txBody>
          <a:bodyPr wrap="square" lIns="0" tIns="0" rIns="0" bIns="0" rtlCol="0" anchor="ctr"/>
          <a:lstStyle/>
          <a:p>
            <a:pPr indent="0" marL="0">
              <a:buNone/>
            </a:pPr>
            <a:r>
              <a:rPr lang="en-US" sz="1000" dirty="0">
                <a:solidFill>
                  <a:srgbClr val="5B637A"/>
                </a:solidFill>
                <a:latin typeface="Calibri" pitchFamily="34" charset="0"/>
                <a:ea typeface="Calibri" pitchFamily="34" charset="-122"/>
                <a:cs typeface="Calibri" pitchFamily="34" charset="-120"/>
              </a:rPr>
              <a:t>Raksha</a:t>
            </a:r>
            <a:endParaRPr lang="en-US" sz="1000" dirty="0"/>
          </a:p>
        </p:txBody>
      </p:sp>
      <p:sp>
        <p:nvSpPr>
          <p:cNvPr id="3" name="Text 1"/>
          <p:cNvSpPr txBox="1"/>
          <p:nvPr/>
        </p:nvSpPr>
        <p:spPr>
          <a:xfrm>
            <a:off x="7589520" y="6400800"/>
            <a:ext cx="4160520" cy="274320"/>
          </a:xfrm>
          <a:prstGeom prst="rect">
            <a:avLst/>
          </a:prstGeom>
          <a:noFill/>
          <a:ln/>
        </p:spPr>
        <p:txBody>
          <a:bodyPr wrap="square" lIns="0" tIns="0" rIns="0" bIns="0" rtlCol="0" anchor="ctr"/>
          <a:lstStyle/>
          <a:p>
            <a:pPr algn="r" indent="0" marL="0">
              <a:buNone/>
            </a:pPr>
            <a:r>
              <a:rPr lang="en-US" sz="1000" dirty="0">
                <a:solidFill>
                  <a:srgbClr val="5B637A"/>
                </a:solidFill>
                <a:latin typeface="Calibri" pitchFamily="34" charset="0"/>
                <a:ea typeface="Calibri" pitchFamily="34" charset="-122"/>
                <a:cs typeface="Calibri" pitchFamily="34" charset="-120"/>
              </a:rPr>
              <a:t>YC Fall 2026 × Moss · Zero Latency Builder Sprint</a:t>
            </a:r>
            <a:endParaRPr lang="en-US" sz="1000" dirty="0"/>
          </a:p>
        </p:txBody>
      </p:sp>
      <p:sp>
        <p:nvSpPr>
          <p:cNvPr id="4" name="Text 2"/>
          <p:cNvSpPr txBox="1"/>
          <p:nvPr/>
        </p:nvSpPr>
        <p:spPr>
          <a:xfrm>
            <a:off x="548640" y="182880"/>
            <a:ext cx="7315200" cy="256032"/>
          </a:xfrm>
          <a:prstGeom prst="rect">
            <a:avLst/>
          </a:prstGeom>
          <a:noFill/>
          <a:ln/>
        </p:spPr>
        <p:txBody>
          <a:bodyPr wrap="square" lIns="0" tIns="0" rIns="0" bIns="0" rtlCol="0" anchor="ctr"/>
          <a:lstStyle/>
          <a:p>
            <a:pPr indent="0" marL="0">
              <a:buNone/>
            </a:pPr>
            <a:r>
              <a:rPr lang="en-US" sz="1000" b="1" spc="300" kern="0" dirty="0">
                <a:solidFill>
                  <a:srgbClr val="F5A524"/>
                </a:solidFill>
                <a:latin typeface="Calibri" pitchFamily="34" charset="0"/>
                <a:ea typeface="Calibri" pitchFamily="34" charset="-122"/>
                <a:cs typeface="Calibri" pitchFamily="34" charset="-120"/>
              </a:rPr>
              <a:t>WHAT'S NEXT</a:t>
            </a:r>
            <a:endParaRPr lang="en-US" sz="1000" dirty="0"/>
          </a:p>
        </p:txBody>
      </p:sp>
      <p:sp>
        <p:nvSpPr>
          <p:cNvPr id="5" name="Text 3"/>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600" dirty="0">
                <a:solidFill>
                  <a:srgbClr val="E8EBF3"/>
                </a:solidFill>
                <a:latin typeface="Cambria" pitchFamily="34" charset="0"/>
                <a:ea typeface="Cambria" pitchFamily="34" charset="-122"/>
                <a:cs typeface="Cambria" pitchFamily="34" charset="-120"/>
              </a:rPr>
              <a:t>Every phone, not just a Pixel.</a:t>
            </a:r>
            <a:endParaRPr lang="en-US" sz="3600" dirty="0"/>
          </a:p>
        </p:txBody>
      </p:sp>
      <p:sp>
        <p:nvSpPr>
          <p:cNvPr id="6" name="Shape 4"/>
          <p:cNvSpPr/>
          <p:nvPr/>
        </p:nvSpPr>
        <p:spPr>
          <a:xfrm>
            <a:off x="548640" y="1417320"/>
            <a:ext cx="2651760" cy="2743200"/>
          </a:xfrm>
          <a:prstGeom prst="roundRect">
            <a:avLst>
              <a:gd name="adj" fmla="val 4828"/>
            </a:avLst>
          </a:prstGeom>
          <a:solidFill>
            <a:srgbClr val="0F1523"/>
          </a:solidFill>
          <a:ln w="9525">
            <a:solidFill>
              <a:srgbClr val="26304A"/>
            </a:solidFill>
            <a:prstDash val="solid"/>
          </a:ln>
        </p:spPr>
      </p:sp>
      <p:sp>
        <p:nvSpPr>
          <p:cNvPr id="7" name="Text 5"/>
          <p:cNvSpPr txBox="1"/>
          <p:nvPr/>
        </p:nvSpPr>
        <p:spPr>
          <a:xfrm>
            <a:off x="777240" y="1600200"/>
            <a:ext cx="2194560" cy="457200"/>
          </a:xfrm>
          <a:prstGeom prst="rect">
            <a:avLst/>
          </a:prstGeom>
          <a:noFill/>
          <a:ln/>
        </p:spPr>
        <p:txBody>
          <a:bodyPr wrap="square" lIns="0" tIns="0" rIns="0" bIns="0" rtlCol="0" anchor="ctr"/>
          <a:lstStyle/>
          <a:p>
            <a:pPr indent="0" marL="0">
              <a:buNone/>
            </a:pPr>
            <a:r>
              <a:rPr lang="en-US" sz="2200" dirty="0">
                <a:solidFill>
                  <a:srgbClr val="FFC75F"/>
                </a:solidFill>
                <a:latin typeface="Cambria" pitchFamily="34" charset="0"/>
                <a:ea typeface="Cambria" pitchFamily="34" charset="-122"/>
                <a:cs typeface="Cambria" pitchFamily="34" charset="-120"/>
              </a:rPr>
              <a:t>Now</a:t>
            </a:r>
            <a:endParaRPr lang="en-US" sz="2200" dirty="0"/>
          </a:p>
        </p:txBody>
      </p:sp>
      <p:sp>
        <p:nvSpPr>
          <p:cNvPr id="8" name="Text 6"/>
          <p:cNvSpPr txBox="1"/>
          <p:nvPr/>
        </p:nvSpPr>
        <p:spPr>
          <a:xfrm>
            <a:off x="777240" y="2148840"/>
            <a:ext cx="2240280" cy="1828800"/>
          </a:xfrm>
          <a:prstGeom prst="rect">
            <a:avLst/>
          </a:prstGeom>
          <a:noFill/>
          <a:ln/>
        </p:spPr>
        <p:txBody>
          <a:bodyPr wrap="square" lIns="0" tIns="0" rIns="0" bIns="0" rtlCol="0" anchor="ctr"/>
          <a:lstStyle/>
          <a:p>
            <a:pPr indent="0" marL="0">
              <a:buNone/>
            </a:pPr>
            <a:r>
              <a:rPr lang="en-US" sz="1250" dirty="0">
                <a:solidFill>
                  <a:srgbClr val="E8EBF3"/>
                </a:solidFill>
                <a:latin typeface="Calibri" pitchFamily="34" charset="0"/>
                <a:ea typeface="Calibri" pitchFamily="34" charset="-122"/>
                <a:cs typeface="Calibri" pitchFamily="34" charset="-120"/>
              </a:rPr>
              <a:t>Web reference implementation, deployed. 9 scenarios, live mic, recordings, guardian, community intel, eval.</a:t>
            </a:r>
            <a:endParaRPr lang="en-US" sz="1250" dirty="0"/>
          </a:p>
        </p:txBody>
      </p:sp>
      <p:sp>
        <p:nvSpPr>
          <p:cNvPr id="9" name="Shape 7"/>
          <p:cNvSpPr/>
          <p:nvPr/>
        </p:nvSpPr>
        <p:spPr>
          <a:xfrm>
            <a:off x="3364992" y="1417320"/>
            <a:ext cx="2651760" cy="2743200"/>
          </a:xfrm>
          <a:prstGeom prst="roundRect">
            <a:avLst>
              <a:gd name="adj" fmla="val 4828"/>
            </a:avLst>
          </a:prstGeom>
          <a:solidFill>
            <a:srgbClr val="0F1523"/>
          </a:solidFill>
          <a:ln w="9525">
            <a:solidFill>
              <a:srgbClr val="26304A"/>
            </a:solidFill>
            <a:prstDash val="solid"/>
          </a:ln>
        </p:spPr>
      </p:sp>
      <p:sp>
        <p:nvSpPr>
          <p:cNvPr id="10" name="Text 8"/>
          <p:cNvSpPr txBox="1"/>
          <p:nvPr/>
        </p:nvSpPr>
        <p:spPr>
          <a:xfrm>
            <a:off x="3593592" y="1600200"/>
            <a:ext cx="2194560" cy="457200"/>
          </a:xfrm>
          <a:prstGeom prst="rect">
            <a:avLst/>
          </a:prstGeom>
          <a:noFill/>
          <a:ln/>
        </p:spPr>
        <p:txBody>
          <a:bodyPr wrap="square" lIns="0" tIns="0" rIns="0" bIns="0" rtlCol="0" anchor="ctr"/>
          <a:lstStyle/>
          <a:p>
            <a:pPr indent="0" marL="0">
              <a:buNone/>
            </a:pPr>
            <a:r>
              <a:rPr lang="en-US" sz="2200" dirty="0">
                <a:solidFill>
                  <a:srgbClr val="FFC75F"/>
                </a:solidFill>
                <a:latin typeface="Cambria" pitchFamily="34" charset="0"/>
                <a:ea typeface="Cambria" pitchFamily="34" charset="-122"/>
                <a:cs typeface="Cambria" pitchFamily="34" charset="-120"/>
              </a:rPr>
              <a:t>+4 weeks</a:t>
            </a:r>
            <a:endParaRPr lang="en-US" sz="2200" dirty="0"/>
          </a:p>
        </p:txBody>
      </p:sp>
      <p:sp>
        <p:nvSpPr>
          <p:cNvPr id="11" name="Text 9"/>
          <p:cNvSpPr txBox="1"/>
          <p:nvPr/>
        </p:nvSpPr>
        <p:spPr>
          <a:xfrm>
            <a:off x="3593592" y="2148840"/>
            <a:ext cx="2240280" cy="1828800"/>
          </a:xfrm>
          <a:prstGeom prst="rect">
            <a:avLst/>
          </a:prstGeom>
          <a:noFill/>
          <a:ln/>
        </p:spPr>
        <p:txBody>
          <a:bodyPr wrap="square" lIns="0" tIns="0" rIns="0" bIns="0" rtlCol="0" anchor="ctr"/>
          <a:lstStyle/>
          <a:p>
            <a:pPr indent="0" marL="0">
              <a:buNone/>
            </a:pPr>
            <a:r>
              <a:rPr lang="en-US" sz="1250" dirty="0">
                <a:solidFill>
                  <a:srgbClr val="E8EBF3"/>
                </a:solidFill>
                <a:latin typeface="Calibri" pitchFamily="34" charset="0"/>
                <a:ea typeface="Calibri" pitchFamily="34" charset="-122"/>
                <a:cs typeface="Calibri" pitchFamily="34" charset="-120"/>
              </a:rPr>
              <a:t>Android app with in-call audio; Hindi / Tamil / Telugu playbooks; bank “transfer hold” webhook.</a:t>
            </a:r>
            <a:endParaRPr lang="en-US" sz="1250" dirty="0"/>
          </a:p>
        </p:txBody>
      </p:sp>
      <p:sp>
        <p:nvSpPr>
          <p:cNvPr id="12" name="Shape 10"/>
          <p:cNvSpPr/>
          <p:nvPr/>
        </p:nvSpPr>
        <p:spPr>
          <a:xfrm>
            <a:off x="6181344" y="1417320"/>
            <a:ext cx="2651760" cy="2743200"/>
          </a:xfrm>
          <a:prstGeom prst="roundRect">
            <a:avLst>
              <a:gd name="adj" fmla="val 4828"/>
            </a:avLst>
          </a:prstGeom>
          <a:solidFill>
            <a:srgbClr val="0F1523"/>
          </a:solidFill>
          <a:ln w="9525">
            <a:solidFill>
              <a:srgbClr val="26304A"/>
            </a:solidFill>
            <a:prstDash val="solid"/>
          </a:ln>
        </p:spPr>
      </p:sp>
      <p:sp>
        <p:nvSpPr>
          <p:cNvPr id="13" name="Text 11"/>
          <p:cNvSpPr txBox="1"/>
          <p:nvPr/>
        </p:nvSpPr>
        <p:spPr>
          <a:xfrm>
            <a:off x="6409944" y="1600200"/>
            <a:ext cx="2194560" cy="457200"/>
          </a:xfrm>
          <a:prstGeom prst="rect">
            <a:avLst/>
          </a:prstGeom>
          <a:noFill/>
          <a:ln/>
        </p:spPr>
        <p:txBody>
          <a:bodyPr wrap="square" lIns="0" tIns="0" rIns="0" bIns="0" rtlCol="0" anchor="ctr"/>
          <a:lstStyle/>
          <a:p>
            <a:pPr indent="0" marL="0">
              <a:buNone/>
            </a:pPr>
            <a:r>
              <a:rPr lang="en-US" sz="2200" dirty="0">
                <a:solidFill>
                  <a:srgbClr val="FFC75F"/>
                </a:solidFill>
                <a:latin typeface="Cambria" pitchFamily="34" charset="0"/>
                <a:ea typeface="Cambria" pitchFamily="34" charset="-122"/>
                <a:cs typeface="Cambria" pitchFamily="34" charset="-120"/>
              </a:rPr>
              <a:t>+3 months</a:t>
            </a:r>
            <a:endParaRPr lang="en-US" sz="2200" dirty="0"/>
          </a:p>
        </p:txBody>
      </p:sp>
      <p:sp>
        <p:nvSpPr>
          <p:cNvPr id="14" name="Text 12"/>
          <p:cNvSpPr txBox="1"/>
          <p:nvPr/>
        </p:nvSpPr>
        <p:spPr>
          <a:xfrm>
            <a:off x="6409944" y="2148840"/>
            <a:ext cx="2240280" cy="1828800"/>
          </a:xfrm>
          <a:prstGeom prst="rect">
            <a:avLst/>
          </a:prstGeom>
          <a:noFill/>
          <a:ln/>
        </p:spPr>
        <p:txBody>
          <a:bodyPr wrap="square" lIns="0" tIns="0" rIns="0" bIns="0" rtlCol="0" anchor="ctr"/>
          <a:lstStyle/>
          <a:p>
            <a:pPr indent="0" marL="0">
              <a:buNone/>
            </a:pPr>
            <a:r>
              <a:rPr lang="en-US" sz="1250" dirty="0">
                <a:solidFill>
                  <a:srgbClr val="E8EBF3"/>
                </a:solidFill>
                <a:latin typeface="Calibri" pitchFamily="34" charset="0"/>
                <a:ea typeface="Calibri" pitchFamily="34" charset="-122"/>
                <a:cs typeface="Calibri" pitchFamily="34" charset="-120"/>
              </a:rPr>
              <a:t>Hot path fully on-device with Moss mobile/browser SDKs; deepfake-voice liveness fused into the risk model; pilot with one bank and one senior-living network.</a:t>
            </a:r>
            <a:endParaRPr lang="en-US" sz="1250" dirty="0"/>
          </a:p>
        </p:txBody>
      </p:sp>
      <p:sp>
        <p:nvSpPr>
          <p:cNvPr id="15" name="Shape 13"/>
          <p:cNvSpPr/>
          <p:nvPr/>
        </p:nvSpPr>
        <p:spPr>
          <a:xfrm>
            <a:off x="8997696" y="1417320"/>
            <a:ext cx="2651760" cy="2743200"/>
          </a:xfrm>
          <a:prstGeom prst="roundRect">
            <a:avLst>
              <a:gd name="adj" fmla="val 4828"/>
            </a:avLst>
          </a:prstGeom>
          <a:solidFill>
            <a:srgbClr val="0F1523"/>
          </a:solidFill>
          <a:ln w="9525">
            <a:solidFill>
              <a:srgbClr val="26304A"/>
            </a:solidFill>
            <a:prstDash val="solid"/>
          </a:ln>
        </p:spPr>
      </p:sp>
      <p:sp>
        <p:nvSpPr>
          <p:cNvPr id="16" name="Text 14"/>
          <p:cNvSpPr txBox="1"/>
          <p:nvPr/>
        </p:nvSpPr>
        <p:spPr>
          <a:xfrm>
            <a:off x="9226296" y="1600200"/>
            <a:ext cx="2194560" cy="457200"/>
          </a:xfrm>
          <a:prstGeom prst="rect">
            <a:avLst/>
          </a:prstGeom>
          <a:noFill/>
          <a:ln/>
        </p:spPr>
        <p:txBody>
          <a:bodyPr wrap="square" lIns="0" tIns="0" rIns="0" bIns="0" rtlCol="0" anchor="ctr"/>
          <a:lstStyle/>
          <a:p>
            <a:pPr indent="0" marL="0">
              <a:buNone/>
            </a:pPr>
            <a:r>
              <a:rPr lang="en-US" sz="2200" dirty="0">
                <a:solidFill>
                  <a:srgbClr val="FFC75F"/>
                </a:solidFill>
                <a:latin typeface="Cambria" pitchFamily="34" charset="0"/>
                <a:ea typeface="Cambria" pitchFamily="34" charset="-122"/>
                <a:cs typeface="Cambria" pitchFamily="34" charset="-120"/>
              </a:rPr>
              <a:t>+6 months</a:t>
            </a:r>
            <a:endParaRPr lang="en-US" sz="2200" dirty="0"/>
          </a:p>
        </p:txBody>
      </p:sp>
      <p:sp>
        <p:nvSpPr>
          <p:cNvPr id="17" name="Text 15"/>
          <p:cNvSpPr txBox="1"/>
          <p:nvPr/>
        </p:nvSpPr>
        <p:spPr>
          <a:xfrm>
            <a:off x="9226296" y="2148840"/>
            <a:ext cx="2240280" cy="1828800"/>
          </a:xfrm>
          <a:prstGeom prst="rect">
            <a:avLst/>
          </a:prstGeom>
          <a:noFill/>
          <a:ln/>
        </p:spPr>
        <p:txBody>
          <a:bodyPr wrap="square" lIns="0" tIns="0" rIns="0" bIns="0" rtlCol="0" anchor="ctr"/>
          <a:lstStyle/>
          <a:p>
            <a:pPr indent="0" marL="0">
              <a:buNone/>
            </a:pPr>
            <a:r>
              <a:rPr lang="en-US" sz="1250" dirty="0">
                <a:solidFill>
                  <a:srgbClr val="E8EBF3"/>
                </a:solidFill>
                <a:latin typeface="Calibri" pitchFamily="34" charset="0"/>
                <a:ea typeface="Calibri" pitchFamily="34" charset="-122"/>
                <a:cs typeface="Calibri" pitchFamily="34" charset="-120"/>
              </a:rPr>
              <a:t>Federated playbook across partners; one-tap 1930 / NCRP reporting; regional script variants.</a:t>
            </a:r>
            <a:endParaRPr lang="en-US" sz="1250" dirty="0"/>
          </a:p>
        </p:txBody>
      </p:sp>
      <p:sp>
        <p:nvSpPr>
          <p:cNvPr id="18" name="Shape 16"/>
          <p:cNvSpPr/>
          <p:nvPr/>
        </p:nvSpPr>
        <p:spPr>
          <a:xfrm>
            <a:off x="548640" y="4526280"/>
            <a:ext cx="11064240" cy="1600200"/>
          </a:xfrm>
          <a:prstGeom prst="roundRect">
            <a:avLst>
              <a:gd name="adj" fmla="val 8000"/>
            </a:avLst>
          </a:prstGeom>
          <a:solidFill>
            <a:srgbClr val="1A1608"/>
          </a:solidFill>
          <a:ln w="9525">
            <a:solidFill>
              <a:srgbClr val="F5A524"/>
            </a:solidFill>
            <a:prstDash val="solid"/>
          </a:ln>
        </p:spPr>
      </p:sp>
      <p:pic>
        <p:nvPicPr>
          <p:cNvPr id="19" name="Image 0" descr="/home/user/YC-Fall-2026-x-Moss/docs/deck/assets/logo.png">    </p:cNvPr>
          <p:cNvPicPr>
            <a:picLocks noChangeAspect="1"/>
          </p:cNvPicPr>
          <p:nvPr/>
        </p:nvPicPr>
        <p:blipFill>
          <a:blip r:embed="rId1"/>
          <a:stretch>
            <a:fillRect/>
          </a:stretch>
        </p:blipFill>
        <p:spPr>
          <a:xfrm>
            <a:off x="822960" y="4892040"/>
            <a:ext cx="868680" cy="868680"/>
          </a:xfrm>
          <a:prstGeom prst="rect">
            <a:avLst/>
          </a:prstGeom>
        </p:spPr>
      </p:pic>
      <p:sp>
        <p:nvSpPr>
          <p:cNvPr id="20" name="Text 17"/>
          <p:cNvSpPr txBox="1"/>
          <p:nvPr/>
        </p:nvSpPr>
        <p:spPr>
          <a:xfrm>
            <a:off x="1920240" y="4663440"/>
            <a:ext cx="9418320" cy="640080"/>
          </a:xfrm>
          <a:prstGeom prst="rect">
            <a:avLst/>
          </a:prstGeom>
          <a:noFill/>
          <a:ln/>
        </p:spPr>
        <p:txBody>
          <a:bodyPr wrap="square" lIns="0" tIns="0" rIns="0" bIns="0" rtlCol="0" anchor="ctr"/>
          <a:lstStyle/>
          <a:p>
            <a:pPr indent="0" marL="0">
              <a:buNone/>
            </a:pPr>
            <a:r>
              <a:rPr lang="en-US" sz="2200" dirty="0">
                <a:solidFill>
                  <a:srgbClr val="E8EBF3"/>
                </a:solidFill>
                <a:latin typeface="Cambria" pitchFamily="34" charset="0"/>
                <a:ea typeface="Cambria" pitchFamily="34" charset="-122"/>
                <a:cs typeface="Cambria" pitchFamily="34" charset="-120"/>
              </a:rPr>
              <a:t>Every scam follows a script. Now the phone knows the script.</a:t>
            </a:r>
            <a:endParaRPr lang="en-US" sz="2200" dirty="0"/>
          </a:p>
        </p:txBody>
      </p:sp>
      <p:sp>
        <p:nvSpPr>
          <p:cNvPr id="21" name="Text 18"/>
          <p:cNvSpPr txBox="1"/>
          <p:nvPr/>
        </p:nvSpPr>
        <p:spPr>
          <a:xfrm>
            <a:off x="1920240" y="5349240"/>
            <a:ext cx="9418320" cy="457200"/>
          </a:xfrm>
          <a:prstGeom prst="rect">
            <a:avLst/>
          </a:prstGeom>
          <a:noFill/>
          <a:ln/>
        </p:spPr>
        <p:txBody>
          <a:bodyPr wrap="square" lIns="0" tIns="0" rIns="0" bIns="0" rtlCol="0" anchor="ctr"/>
          <a:lstStyle/>
          <a:p>
            <a:pPr indent="0" marL="0">
              <a:buNone/>
            </a:pPr>
            <a:r>
              <a:rPr lang="en-US" sz="1400" dirty="0">
                <a:solidFill>
                  <a:srgbClr val="8F97AD"/>
                </a:solidFill>
                <a:latin typeface="Calibri" pitchFamily="34" charset="0"/>
                <a:ea typeface="Calibri" pitchFamily="34" charset="-122"/>
                <a:cs typeface="Calibri" pitchFamily="34" charset="-120"/>
              </a:rPr>
              <a:t>github.com/shi1720/YC-Fall-2026-x-Moss  ·  Shivam Gupta, with Claude  ·  retrieval by Moss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Raksha — the real-time scam-call shield</dc:title>
  <dc:subject>PptxGenJS Presentation</dc:subject>
  <dc:creator>Shivam Gupta</dc:creator>
  <cp:lastModifiedBy>Shivam Gupta</cp:lastModifiedBy>
  <cp:revision>1</cp:revision>
  <dcterms:created xsi:type="dcterms:W3CDTF">2026-09-15T14:09:54Z</dcterms:created>
  <dcterms:modified xsi:type="dcterms:W3CDTF">2026-09-15T14:09:54Z</dcterms:modified>
</cp:coreProperties>
</file>